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Calibri"/>
              </a:defRPr>
            </a:pPr>
            <a:r>
              <a:t>RegShield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BD5E1"/>
                </a:solidFill>
                <a:latin typeface="Calibri"/>
              </a:defRPr>
            </a:pPr>
            <a:r>
              <a:t>Tokenized Vehicle Rental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4747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Calibri"/>
              </a:defRPr>
            </a:pPr>
            <a:r>
              <a:t>Invest in Vehicles. Earn Real Revenue. All On-Chain.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4389120"/>
            <a:ext cx="1645920" cy="411480"/>
          </a:xfrm>
          <a:prstGeom prst="roundRect">
            <a:avLst>
              <a:gd name="adj" fmla="val 15000"/>
            </a:avLst>
          </a:prstGeom>
          <a:solidFill>
            <a:srgbClr val="375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300" b="1">
                <a:solidFill>
                  <a:srgbClr val="FFFFFF"/>
                </a:solidFill>
                <a:latin typeface="Calibri"/>
              </a:defRPr>
            </a:pPr>
            <a:r>
              <a:t>Chainlink CRE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4389120"/>
            <a:ext cx="1645920" cy="411480"/>
          </a:xfrm>
          <a:prstGeom prst="roundRect">
            <a:avLst>
              <a:gd name="adj" fmla="val 15000"/>
            </a:avLst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300" b="1">
                <a:solidFill>
                  <a:srgbClr val="FFFFFF"/>
                </a:solidFill>
                <a:latin typeface="Calibri"/>
              </a:defRPr>
            </a:pPr>
            <a:r>
              <a:t>WorldID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4389120"/>
            <a:ext cx="1645920" cy="411480"/>
          </a:xfrm>
          <a:prstGeom prst="roundRect">
            <a:avLst>
              <a:gd name="adj" fmla="val 15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300" b="1">
                <a:solidFill>
                  <a:srgbClr val="FFFFFF"/>
                </a:solidFill>
                <a:latin typeface="Calibri"/>
              </a:defRPr>
            </a:pPr>
            <a:r>
              <a:t>ERC-3643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5669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Chainlink Block Magic Hackathon — March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73152" cy="2286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Centralized 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Cron jobs for booking, campaigns, revenue sync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9572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Single point of failure — no verifiability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88336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Admin manually approves KYC &amp; milestones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73152" cy="2286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91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No On-Chain Compliance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103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Vehicle investments lack regulatory 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39572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No automated identity verification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688336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Token transfers without compliance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1480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114800"/>
            <a:ext cx="73152" cy="22860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251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Sybil Vulnerability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6634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One person can create multiple investor accounts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95604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No proof-of-personhood verification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248656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Gaming of investment allocations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11480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114800"/>
            <a:ext cx="73152" cy="2286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251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Manual Milestone Verification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6634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Admin manually checks VIN, insurance, registration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95604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Escrow funds released without automated verification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248656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No real-time vehicle telemetry monitoring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Our Solution: RegShield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A fully on-chain compliant vehicle investment platform with decentralized automation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3566160" cy="38404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2011680"/>
            <a:ext cx="73152" cy="3840480"/>
          </a:xfrm>
          <a:prstGeom prst="rect">
            <a:avLst/>
          </a:prstGeom>
          <a:solidFill>
            <a:srgbClr val="375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Chainlink CRE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5 off-chain workflows replace backend cron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529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Automated VIN validation via NHTSA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4553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Milestone-based escrow verification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3814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Vehicle telematics &amp; compliance monitoring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566160" cy="38404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011680"/>
            <a:ext cx="73152" cy="384048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148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WorldID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560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Proof-of-personhood for investor onboarding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28529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Orb-level ZK verification — sybil resistant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314553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On-chain via WorldIDVerifier contract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343814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One human = one verified investor account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011680"/>
            <a:ext cx="3566160" cy="38404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2011680"/>
            <a:ext cx="73152" cy="38404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ERC-3643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560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AssetToken — fractional vehicle ownership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8529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RevenueToken — quarterly rental income rights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14553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Identity Registry enforces compliance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43814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Transfer restrictions by investor type &amp; KYC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3" name="Oval 2"/>
          <p:cNvSpPr/>
          <p:nvPr/>
        </p:nvSpPr>
        <p:spPr>
          <a:xfrm>
            <a:off x="1463040" y="1645920"/>
            <a:ext cx="731520" cy="7315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2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926080" y="1828800"/>
            <a:ext cx="640080" cy="32004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B82F6"/>
                </a:solidFill>
                <a:latin typeface="Calibri"/>
              </a:defRPr>
            </a:pPr>
            <a:r>
              <a:t>Invest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Calibri"/>
              </a:defRPr>
            </a:pPr>
            <a:r>
              <a:t>Investor selects a vehicle</a:t>
            </a:r>
            <a:br/>
            <a:r>
              <a:t>campaign and commits ETH.</a:t>
            </a:r>
            <a:br/>
            <a:r>
              <a:t>Funds locked in PaymentEscrow.</a:t>
            </a:r>
          </a:p>
        </p:txBody>
      </p:sp>
      <p:sp>
        <p:nvSpPr>
          <p:cNvPr id="7" name="Oval 6"/>
          <p:cNvSpPr/>
          <p:nvPr/>
        </p:nvSpPr>
        <p:spPr>
          <a:xfrm>
            <a:off x="4389120" y="1645920"/>
            <a:ext cx="731520" cy="731520"/>
          </a:xfrm>
          <a:prstGeom prst="ellipse">
            <a:avLst/>
          </a:prstGeom>
          <a:solidFill>
            <a:srgbClr val="375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2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52160" y="1828800"/>
            <a:ext cx="640080" cy="32004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75BD2"/>
                </a:solidFill>
                <a:latin typeface="Calibri"/>
              </a:defRPr>
            </a:pPr>
            <a:r>
              <a:t>CRE Verifies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310896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Calibri"/>
              </a:defRPr>
            </a:pPr>
            <a:r>
              <a:t>Chainlink CRE auto-verifies</a:t>
            </a:r>
            <a:br/>
            <a:r>
              <a:t>4 milestones: VIN, purchase,</a:t>
            </a:r>
            <a:br/>
            <a:r>
              <a:t>insurance, registration.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0" y="1645920"/>
            <a:ext cx="731520" cy="73152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2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778240" y="1828800"/>
            <a:ext cx="640080" cy="32004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2C55E"/>
                </a:solidFill>
                <a:latin typeface="Calibri"/>
              </a:defRPr>
            </a:pPr>
            <a:r>
              <a:t>Tokens Minted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10896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Calibri"/>
              </a:defRPr>
            </a:pPr>
            <a:r>
              <a:t>ERC-3643 AssetTokens &amp;</a:t>
            </a:r>
            <a:br/>
            <a:r>
              <a:t>RevenueTokens minted</a:t>
            </a:r>
            <a:br/>
            <a:r>
              <a:t>to verified investors.</a:t>
            </a:r>
          </a:p>
        </p:txBody>
      </p:sp>
      <p:sp>
        <p:nvSpPr>
          <p:cNvPr id="15" name="Oval 14"/>
          <p:cNvSpPr/>
          <p:nvPr/>
        </p:nvSpPr>
        <p:spPr>
          <a:xfrm>
            <a:off x="10241280" y="1645920"/>
            <a:ext cx="731520" cy="73152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2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97316"/>
                </a:solidFill>
                <a:latin typeface="Calibri"/>
              </a:defRPr>
            </a:pPr>
            <a:r>
              <a:t>Earn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10896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Calibri"/>
              </a:defRPr>
            </a:pPr>
            <a:r>
              <a:t>Vehicle generates rental</a:t>
            </a:r>
            <a:br/>
            <a:r>
              <a:t>income. Quarterly waterfall:</a:t>
            </a:r>
            <a:br/>
            <a:r>
              <a:t>50% investors, 10% operator.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029200"/>
            <a:ext cx="10332720" cy="10972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12064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75BD2"/>
                </a:solidFill>
                <a:latin typeface="Calibri"/>
              </a:defRPr>
            </a:pPr>
            <a:r>
              <a:t>Chainlink CRE replaces 4 centralized backend services + adds 1 new capability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48640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Onboarding  |  Campaign Monitor  |  Rental Lifecycle  |  Vehicle Telematics  |  Compliance Monitor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75BD2"/>
                </a:solidFill>
                <a:latin typeface="Calibri"/>
              </a:defRPr>
            </a:pPr>
            <a:r>
              <a:t>Chainlink CRE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5 Decentralized Workflows Replace Centralized Backend Cron Jobs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1064240" cy="457200"/>
          </a:xfrm>
          <a:prstGeom prst="roundRect">
            <a:avLst>
              <a:gd name="adj" fmla="val 2000"/>
            </a:avLst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CRE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7830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0" y="1783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Replaces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1783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Output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11064240" cy="685800"/>
          </a:xfrm>
          <a:prstGeom prst="roundRect">
            <a:avLst>
              <a:gd name="adj" fmla="val 1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774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  <a:latin typeface="Calibri"/>
              </a:defRPr>
            </a:pPr>
            <a:r>
              <a:t>Onboarding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37744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Auto-verify investor identity (ERC-3643 + WorldID), approve/reject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0" y="237744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Manual admin approval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377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2C55E"/>
                </a:solidFill>
                <a:latin typeface="Calibri"/>
              </a:defRPr>
            </a:pPr>
            <a:r>
              <a:t>5 reports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63240"/>
            <a:ext cx="11064240" cy="685800"/>
          </a:xfrm>
          <a:prstGeom prst="roundRect">
            <a:avLst>
              <a:gd name="adj" fmla="val 1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1546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  <a:latin typeface="Calibri"/>
              </a:defRPr>
            </a:pPr>
            <a:r>
              <a:t>Campaign Monitor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15468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Detect expired/underfunded campaigns, trigger batch refunds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31546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campaignScheduler.js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1546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2C55E"/>
                </a:solidFill>
                <a:latin typeface="Calibri"/>
              </a:defRPr>
            </a:pPr>
            <a:r>
              <a:t>2 reports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40480"/>
            <a:ext cx="11064240" cy="685800"/>
          </a:xfrm>
          <a:prstGeom prst="roundRect">
            <a:avLst>
              <a:gd name="adj" fmla="val 1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319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  <a:latin typeface="Calibri"/>
              </a:defRPr>
            </a:pPr>
            <a:r>
              <a:t>Rental Lifecycle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93192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4-milestone verification: VIN, escrow, insurance,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3931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bookingScheduler.js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39319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2C55E"/>
                </a:solidFill>
                <a:latin typeface="Calibri"/>
              </a:defRPr>
            </a:pPr>
            <a:r>
              <a:t>3 reports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617720"/>
            <a:ext cx="11064240" cy="685800"/>
          </a:xfrm>
          <a:prstGeom prst="roundRect">
            <a:avLst>
              <a:gd name="adj" fmla="val 1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7091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  <a:latin typeface="Calibri"/>
              </a:defRPr>
            </a:pPr>
            <a:r>
              <a:t>Vehicle Telematics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470916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Poll odometer/telemetry data, update VehicleNFT on-chain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47091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revenueSyncService.js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70916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2C55E"/>
                </a:solidFill>
                <a:latin typeface="Calibri"/>
              </a:defRPr>
            </a:pPr>
            <a:r>
              <a:t>3 reports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394960"/>
            <a:ext cx="11064240" cy="685800"/>
          </a:xfrm>
          <a:prstGeom prst="roundRect">
            <a:avLst>
              <a:gd name="adj" fmla="val 1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  <a:latin typeface="Calibri"/>
              </a:defRPr>
            </a:pPr>
            <a:r>
              <a:t>Compliance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548640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Monitor registration/insurance expiry, overdue maintenance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0" y="548640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97316"/>
                </a:solidFill>
                <a:latin typeface="Calibri"/>
              </a:defRPr>
            </a:pPr>
            <a:r>
              <a:t>None (NEW capability)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548640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2C55E"/>
                </a:solidFill>
                <a:latin typeface="Calibri"/>
              </a:defRPr>
            </a:pPr>
            <a:r>
              <a:t>3 reports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All 5 workflows compile to WASM, run on Chainlink DON nodes, and submit reports to 5 Receiver contracts on Sepolia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333EA"/>
                </a:solidFill>
                <a:latin typeface="Calibri"/>
              </a:defRPr>
            </a:pPr>
            <a:r>
              <a:t>WorldID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Proof-of-Personhood for Sybil-Resistant Investor Onboarding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73152" cy="27432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1. Verify in</a:t>
            </a:r>
            <a:br/>
            <a:r>
              <a:t>World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Investor opens RegShield</a:t>
            </a:r>
            <a:br/>
            <a:r>
              <a:t>in World App. Completes</a:t>
            </a:r>
            <a:br/>
            <a:r>
              <a:t>Orb-level ZK verification.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54680" y="2926080"/>
            <a:ext cx="274320" cy="228600"/>
          </a:xfrm>
          <a:prstGeom prst="rightArrow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83280" y="182880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1828800"/>
            <a:ext cx="73152" cy="27432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965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2. Cloud Proof</a:t>
            </a:r>
            <a:br/>
            <a:r>
              <a:t>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6517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Backend API verifies proof</a:t>
            </a:r>
            <a:br/>
            <a:r>
              <a:t>via Worldcoin cloud service.</a:t>
            </a:r>
            <a:br/>
            <a:r>
              <a:t>Returns merkle root + nullifier.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80760" y="2926080"/>
            <a:ext cx="274320" cy="228600"/>
          </a:xfrm>
          <a:prstGeom prst="rightArrow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182880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828800"/>
            <a:ext cx="73152" cy="27432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965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3. On-Chain</a:t>
            </a:r>
            <a:br/>
            <a:r>
              <a:t>Registration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6517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WorldIDVerifier.sol calls</a:t>
            </a:r>
            <a:br/>
            <a:r>
              <a:t>World ID Router. Maps address</a:t>
            </a:r>
            <a:br/>
            <a:r>
              <a:t>as verified. Prevents duplicates.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006840" y="2926080"/>
            <a:ext cx="274320" cy="228600"/>
          </a:xfrm>
          <a:prstGeom prst="rightArrow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235440" y="182880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1828800"/>
            <a:ext cx="73152" cy="27432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1965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4. Compliance</a:t>
            </a:r>
            <a:br/>
            <a:r>
              <a:t>Gate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26517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useComplianceStatus() hook</a:t>
            </a:r>
            <a:br/>
            <a:r>
              <a:t>checks isWorldIDVerified()</a:t>
            </a:r>
            <a:br/>
            <a:r>
              <a:t>before enabling investments.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937760"/>
            <a:ext cx="10698480" cy="13716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333EA"/>
                </a:solidFill>
                <a:latin typeface="Calibri"/>
              </a:defRPr>
            </a:pPr>
            <a:r>
              <a:t>WorldIDVerifier.sol — Sepolia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39496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100">
                <a:solidFill>
                  <a:srgbClr val="9333EA"/>
                </a:solidFill>
                <a:latin typeface="Calibri"/>
              </a:rPr>
              <a:t>▸ </a:t>
            </a:r>
            <a:r>
              <a:rPr sz="1100">
                <a:solidFill>
                  <a:srgbClr val="CBD5E1"/>
                </a:solidFill>
                <a:latin typeface="Calibri"/>
              </a:rPr>
              <a:t>Address: 0x838C9397F5c00f7010924dDc4c2E93Fcab6c0363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100">
                <a:solidFill>
                  <a:srgbClr val="9333EA"/>
                </a:solidFill>
                <a:latin typeface="Calibri"/>
              </a:rPr>
              <a:t>▸ </a:t>
            </a:r>
            <a:r>
              <a:rPr sz="1100">
                <a:solidFill>
                  <a:srgbClr val="CBD5E1"/>
                </a:solidFill>
                <a:latin typeface="Calibri"/>
              </a:rPr>
              <a:t>verifyAndRegister(signal, root, nullifierHash, proof) — registers verified user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100">
                <a:solidFill>
                  <a:srgbClr val="9333EA"/>
                </a:solidFill>
                <a:latin typeface="Calibri"/>
              </a:rPr>
              <a:t>▸ </a:t>
            </a:r>
            <a:r>
              <a:rPr sz="1100">
                <a:solidFill>
                  <a:srgbClr val="CBD5E1"/>
                </a:solidFill>
                <a:latin typeface="Calibri"/>
              </a:rPr>
              <a:t>isWorldIDVerified(address) — quick lookup for compliance gates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100">
                <a:solidFill>
                  <a:srgbClr val="9333EA"/>
                </a:solidFill>
                <a:latin typeface="Calibri"/>
              </a:rPr>
              <a:t>▸ </a:t>
            </a:r>
            <a:r>
              <a:rPr sz="1100">
                <a:solidFill>
                  <a:srgbClr val="CBD5E1"/>
                </a:solidFill>
                <a:latin typeface="Calibri"/>
              </a:rPr>
              <a:t>Nullifier hash prevents same human from verifying twice (sybil resistance)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Architecture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91440" cy="1828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Calibri"/>
              </a:defRPr>
            </a:pPr>
            <a:r>
              <a:t>Frontend (Next.js)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200">
                <a:solidFill>
                  <a:srgbClr val="3B82F6"/>
                </a:solidFill>
                <a:latin typeface="Calibri"/>
              </a:rPr>
              <a:t>▸ </a:t>
            </a:r>
            <a:r>
              <a:rPr sz="1200">
                <a:solidFill>
                  <a:srgbClr val="CBD5E1"/>
                </a:solidFill>
                <a:latin typeface="Calibri"/>
              </a:rPr>
              <a:t>Wagmi + Viem for wallet &amp; contract interaction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200">
                <a:solidFill>
                  <a:srgbClr val="3B82F6"/>
                </a:solidFill>
                <a:latin typeface="Calibri"/>
              </a:rPr>
              <a:t>▸ </a:t>
            </a:r>
            <a:r>
              <a:rPr sz="1200">
                <a:solidFill>
                  <a:srgbClr val="CBD5E1"/>
                </a:solidFill>
                <a:latin typeface="Calibri"/>
              </a:rPr>
              <a:t>Chainlink Price Feed hook (ETH/USD live)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200">
                <a:solidFill>
                  <a:srgbClr val="3B82F6"/>
                </a:solidFill>
                <a:latin typeface="Calibri"/>
              </a:rPr>
              <a:t>▸ </a:t>
            </a:r>
            <a:r>
              <a:rPr sz="1200">
                <a:solidFill>
                  <a:srgbClr val="CBD5E1"/>
                </a:solidFill>
                <a:latin typeface="Calibri"/>
              </a:rPr>
              <a:t>WorldID MiniKit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488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200">
                <a:solidFill>
                  <a:srgbClr val="3B82F6"/>
                </a:solidFill>
                <a:latin typeface="Calibri"/>
              </a:rPr>
              <a:t>▸ </a:t>
            </a:r>
            <a:r>
              <a:rPr sz="1200">
                <a:solidFill>
                  <a:srgbClr val="CBD5E1"/>
                </a:solidFill>
                <a:latin typeface="Calibri"/>
              </a:rPr>
              <a:t>ERC-3643 compliance status hooks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200">
                <a:solidFill>
                  <a:srgbClr val="3B82F6"/>
                </a:solidFill>
                <a:latin typeface="Calibri"/>
              </a:rPr>
              <a:t>▸ </a:t>
            </a:r>
            <a:r>
              <a:rPr sz="1200">
                <a:solidFill>
                  <a:srgbClr val="CBD5E1"/>
                </a:solidFill>
                <a:latin typeface="Calibri"/>
              </a:rPr>
              <a:t>Role-based dashboards (Investor, Rentor, Renter, Admin)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40480"/>
            <a:ext cx="91440" cy="1828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C55E"/>
                </a:solidFill>
                <a:latin typeface="Calibri"/>
              </a:defRPr>
            </a:pPr>
            <a:r>
              <a:t>Smart Contracts (Sepolia)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43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200">
                <a:solidFill>
                  <a:srgbClr val="22C55E"/>
                </a:solidFill>
                <a:latin typeface="Calibri"/>
              </a:rPr>
              <a:t>▸ </a:t>
            </a:r>
            <a:r>
              <a:rPr sz="1200">
                <a:solidFill>
                  <a:srgbClr val="CBD5E1"/>
                </a:solidFill>
                <a:latin typeface="Calibri"/>
              </a:rPr>
              <a:t>34 contracts: VehicleNFT, PaymentEscrow, IdentityRegistry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200">
                <a:solidFill>
                  <a:srgbClr val="22C55E"/>
                </a:solidFill>
                <a:latin typeface="Calibri"/>
              </a:rPr>
              <a:t>▸ </a:t>
            </a:r>
            <a:r>
              <a:rPr sz="1200">
                <a:solidFill>
                  <a:srgbClr val="CBD5E1"/>
                </a:solidFill>
                <a:latin typeface="Calibri"/>
              </a:rPr>
              <a:t>ERC-3643 AssetToken &amp; RevenueToken factories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200">
                <a:solidFill>
                  <a:srgbClr val="22C55E"/>
                </a:solidFill>
                <a:latin typeface="Calibri"/>
              </a:rPr>
              <a:t>▸ </a:t>
            </a:r>
            <a:r>
              <a:rPr sz="1200">
                <a:solidFill>
                  <a:srgbClr val="CBD5E1"/>
                </a:solidFill>
                <a:latin typeface="Calibri"/>
              </a:rPr>
              <a:t>WorldIDVerifier — on-chain proof-of-personhood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4343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200">
                <a:solidFill>
                  <a:srgbClr val="22C55E"/>
                </a:solidFill>
                <a:latin typeface="Calibri"/>
              </a:rPr>
              <a:t>▸ </a:t>
            </a:r>
            <a:r>
              <a:rPr sz="1200">
                <a:solidFill>
                  <a:srgbClr val="CBD5E1"/>
                </a:solidFill>
                <a:latin typeface="Calibri"/>
              </a:rPr>
              <a:t>5 CRE Receiver contracts (MockKeystoneForwarder)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200">
                <a:solidFill>
                  <a:srgbClr val="22C55E"/>
                </a:solidFill>
                <a:latin typeface="Calibri"/>
              </a:rPr>
              <a:t>▸ </a:t>
            </a:r>
            <a:r>
              <a:rPr sz="1200">
                <a:solidFill>
                  <a:srgbClr val="CBD5E1"/>
                </a:solidFill>
                <a:latin typeface="Calibri"/>
              </a:rPr>
              <a:t>RevenueDistributor — waterfall: 50% investors, 10% operator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6035040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6035040"/>
            <a:ext cx="91440" cy="1828800"/>
          </a:xfrm>
          <a:prstGeom prst="rect">
            <a:avLst/>
          </a:prstGeom>
          <a:solidFill>
            <a:srgbClr val="375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6172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75BD2"/>
                </a:solidFill>
                <a:latin typeface="Calibri"/>
              </a:defRPr>
            </a:pPr>
            <a:r>
              <a:t>Chainlink CRE (Off-Chain)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5379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200">
                <a:solidFill>
                  <a:srgbClr val="375BD2"/>
                </a:solidFill>
                <a:latin typeface="Calibri"/>
              </a:rPr>
              <a:t>▸ </a:t>
            </a:r>
            <a:r>
              <a:rPr sz="1200">
                <a:solidFill>
                  <a:srgbClr val="CBD5E1"/>
                </a:solidFill>
                <a:latin typeface="Calibri"/>
              </a:rPr>
              <a:t>5 TypeScript workflows compiled to WASM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200">
                <a:solidFill>
                  <a:srgbClr val="375BD2"/>
                </a:solidFill>
                <a:latin typeface="Calibri"/>
              </a:rPr>
              <a:t>▸ </a:t>
            </a:r>
            <a:r>
              <a:rPr sz="1200">
                <a:solidFill>
                  <a:srgbClr val="CBD5E1"/>
                </a:solidFill>
                <a:latin typeface="Calibri"/>
              </a:rPr>
              <a:t>Run on DON nodes with consensus aggregation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200">
                <a:solidFill>
                  <a:srgbClr val="375BD2"/>
                </a:solidFill>
                <a:latin typeface="Calibri"/>
              </a:rPr>
              <a:t>▸ </a:t>
            </a:r>
            <a:r>
              <a:rPr sz="1200">
                <a:solidFill>
                  <a:srgbClr val="CBD5E1"/>
                </a:solidFill>
                <a:latin typeface="Calibri"/>
              </a:rPr>
              <a:t>Read on-chain state + call external APIs (NHTSA)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65379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200">
                <a:solidFill>
                  <a:srgbClr val="375BD2"/>
                </a:solidFill>
                <a:latin typeface="Calibri"/>
              </a:rPr>
              <a:t>▸ </a:t>
            </a:r>
            <a:r>
              <a:rPr sz="1200">
                <a:solidFill>
                  <a:srgbClr val="CBD5E1"/>
                </a:solidFill>
                <a:latin typeface="Calibri"/>
              </a:rPr>
              <a:t>Submit ABI-encoded reports to Receiver contracts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200">
                <a:solidFill>
                  <a:srgbClr val="375BD2"/>
                </a:solidFill>
                <a:latin typeface="Calibri"/>
              </a:rPr>
              <a:t>▸ </a:t>
            </a:r>
            <a:r>
              <a:rPr sz="1200">
                <a:solidFill>
                  <a:srgbClr val="CBD5E1"/>
                </a:solidFill>
                <a:latin typeface="Calibri"/>
              </a:rPr>
              <a:t>Replace: campaignScheduler, bookingScheduler, revenueSyncService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Smart Contracts on Sepolia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34 contracts deployed — key contracts shown below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  <a:latin typeface="Calibri"/>
              </a:defRPr>
            </a:pPr>
            <a:r>
              <a:t>Identity &amp; Compliance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5303520" cy="50292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7568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IdentityRegistry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07568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urier New"/>
              </a:defRPr>
            </a:pPr>
            <a:r>
              <a:t>0x188C...927A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1343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  <a:r>
              <a:t>ERC-3643 on-chain identity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51760"/>
            <a:ext cx="5303520" cy="50292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67004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WorldIDVerifier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67004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urier New"/>
              </a:defRPr>
            </a:pPr>
            <a:r>
              <a:t>0x838C...0363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0779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  <a:r>
              <a:t>Proof-of-personhood (WorldID)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46120"/>
            <a:ext cx="5303520" cy="50292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26440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ComplianceRules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26440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urier New"/>
              </a:defRPr>
            </a:pPr>
            <a:r>
              <a:t>0xe81a...2C0f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50215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  <a:r>
              <a:t>Transfer restriction enforcement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Calibri"/>
              </a:defRPr>
            </a:pPr>
            <a:r>
              <a:t>Tokens &amp; Revenue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057400"/>
            <a:ext cx="5303520" cy="50292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07568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AssetTokenFactory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07568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urier New"/>
              </a:defRPr>
            </a:pPr>
            <a:r>
              <a:t>0x1EEE...38ef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31343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  <a:r>
              <a:t>ERC-3643 ownership tokens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651760"/>
            <a:ext cx="5303520" cy="50292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267004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RevenueTokenFactory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67004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urier New"/>
              </a:defRPr>
            </a:pPr>
            <a:r>
              <a:t>0x1eDE...206C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90779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  <a:r>
              <a:t>ERC-3643 income rights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3246120"/>
            <a:ext cx="5303520" cy="50292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26440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RevenueDistributor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26440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urier New"/>
              </a:defRPr>
            </a:pPr>
            <a:r>
              <a:t>0xD08b...538D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50215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  <a:r>
              <a:t>Waterfall distribution engine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206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97316"/>
                </a:solidFill>
                <a:latin typeface="Calibri"/>
              </a:defRPr>
            </a:pPr>
            <a:r>
              <a:t>Vehicle &amp; Payments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617720"/>
            <a:ext cx="5303520" cy="50292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63600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VehicleNFT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463600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urier New"/>
              </a:defRPr>
            </a:pPr>
            <a:r>
              <a:t>0xfcE0...1814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87375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  <a:r>
              <a:t>ERC-721 vehicle registry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212080"/>
            <a:ext cx="5303520" cy="50292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23036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InvestmentEscrow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523036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urier New"/>
              </a:defRPr>
            </a:pPr>
            <a:r>
              <a:t>0x8e4d...bc89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46811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  <a:r>
              <a:t>Milestone-locked escrow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806440"/>
            <a:ext cx="5303520" cy="50292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82472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RentalPaymentProtocol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0" y="582472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urier New"/>
              </a:defRPr>
            </a:pPr>
            <a:r>
              <a:t>0xE7a7...fc2c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606247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  <a:r>
              <a:t>Rental payment processing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206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75BD2"/>
                </a:solidFill>
                <a:latin typeface="Calibri"/>
              </a:defRPr>
            </a:pPr>
            <a:r>
              <a:t>CRE Receivers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9360" y="4617720"/>
            <a:ext cx="5303520" cy="50292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6520" y="463600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OnboardingReceiver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463600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urier New"/>
              </a:defRPr>
            </a:pPr>
            <a:r>
              <a:t>0xF080...3850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487375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  <a:r>
              <a:t>Identity verification reports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09360" y="5212080"/>
            <a:ext cx="5303520" cy="50292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46520" y="523036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VehicleReceiver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523036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urier New"/>
              </a:defRPr>
            </a:pPr>
            <a:r>
              <a:t>0x73c5...e81B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546811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  <a:r>
              <a:t>Telematics &amp; mileage reports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60" y="5806440"/>
            <a:ext cx="5303520" cy="50292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46520" y="582472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PaymentReceiver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03920" y="582472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urier New"/>
              </a:defRPr>
            </a:pPr>
            <a:r>
              <a:t>0x2f7F...B7C2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606247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  <a:r>
              <a:t>Milestone completion reports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Platform Roles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463040"/>
            <a:ext cx="2743200" cy="4754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73152" cy="4754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Investor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Browse marketplace &amp; invest ETH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042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WorldID verification for sybil resistance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9689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KYC upload → ERC-3643 identity on-chain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8950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Receive AssetTokens + RevenueTokens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8211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Claim quarterly rental revenue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463040"/>
            <a:ext cx="2743200" cy="4754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463040"/>
            <a:ext cx="73152" cy="47548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600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Rentor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Register vehicles as ERC-721 NFTs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3042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Create fundraising campaigns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59689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Manage rental bookings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288950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Earn 10% operator fee on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18211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Track analytics &amp; vehicle performance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463040"/>
            <a:ext cx="2743200" cy="4754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463040"/>
            <a:ext cx="73152" cy="475488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600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Renter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Browse &amp; filter available vehicles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3042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Book vehicles with date selection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259689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Optional WorldID 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88950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Leave reviews &amp; ratings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18211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Track active &amp; past rentals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0" y="1463040"/>
            <a:ext cx="2743200" cy="4754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0" y="1463040"/>
            <a:ext cx="73152" cy="47548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0" y="1600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Admin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Review &amp; approve KYC submissions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23042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Monitor CRE activity feed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259689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Track milestone verification 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288950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Manage disputes &amp; refunds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4040" y="318211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Revenue distribution oversight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75BD2"/>
                </a:solidFill>
                <a:latin typeface="Calibri"/>
              </a:defRPr>
            </a:pPr>
            <a:r>
              <a:t>CRE Simulation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All 5 workflows pass simulation — ready for DON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332720" cy="6858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6596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659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ourier New"/>
              </a:defRPr>
            </a:pPr>
            <a:r>
              <a:t>onboarding-workflow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9659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C55E"/>
                </a:solidFill>
                <a:latin typeface="Calibri"/>
              </a:defRPr>
            </a:pPr>
            <a:r>
              <a:t>[SIMULATION] 5 onboarding reports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651760"/>
            <a:ext cx="10332720" cy="6858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78892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ourier New"/>
              </a:defRPr>
            </a:pPr>
            <a:r>
              <a:t>campaign-workflow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7889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C55E"/>
                </a:solidFill>
                <a:latin typeface="Calibri"/>
              </a:defRPr>
            </a:pPr>
            <a:r>
              <a:t>[SIMULATION] 2 campaign reports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474720"/>
            <a:ext cx="10332720" cy="6858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6118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118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ourier New"/>
              </a:defRPr>
            </a:pPr>
            <a:r>
              <a:t>rental-workflow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6118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C55E"/>
                </a:solidFill>
                <a:latin typeface="Calibri"/>
              </a:defRPr>
            </a:pPr>
            <a:r>
              <a:t>[SIMULATION] 3 milestone reports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297680"/>
            <a:ext cx="10332720" cy="6858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4348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4348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ourier New"/>
              </a:defRPr>
            </a:pPr>
            <a:r>
              <a:t>vehicle-workflow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4348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C55E"/>
                </a:solidFill>
                <a:latin typeface="Calibri"/>
              </a:defRPr>
            </a:pPr>
            <a:r>
              <a:t>[SIMULATION] 3 telemetry reports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120640"/>
            <a:ext cx="10332720" cy="6858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52578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2578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ourier New"/>
              </a:defRPr>
            </a:pPr>
            <a:r>
              <a:t>compliance-workflow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2578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C55E"/>
                </a:solidFill>
                <a:latin typeface="Calibri"/>
              </a:defRPr>
            </a:pPr>
            <a:r>
              <a:t>[SIMULATION] 3 compliance reports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7607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75BD2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6309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CRE Workflows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7607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2C55E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6309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Reports Generated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57607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9731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6309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Receiver Contracts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57607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9333EA"/>
                </a:solidFill>
                <a:latin typeface="Calibri"/>
              </a:defRPr>
            </a:pPr>
            <a:r>
              <a:t>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309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Smart Contracts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Tech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463040"/>
            <a:ext cx="2194560" cy="43891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463040"/>
            <a:ext cx="73152" cy="43891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Next.js 14 (App Router)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0428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TypeScript + TailwindCSS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9689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Wagmi v3 + Viem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8950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Thirdweb SDK 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8211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Framer 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1463040"/>
            <a:ext cx="2194560" cy="43891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51760" y="1463040"/>
            <a:ext cx="73152" cy="43891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600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Smart Contracts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0116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Solidity 0.8.24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0428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Foundry (Forge + Cast)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59689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34 contracts on Sepolia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288950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ERC-721, ERC-3643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18211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OpenZeppelin v5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1463040"/>
            <a:ext cx="2194560" cy="43891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0" y="1463040"/>
            <a:ext cx="73152" cy="43891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0" y="1600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20116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Node.js + Express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230428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MongoDB + Mongoose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59689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JWT Authentication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88950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node-cron schedulers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18211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ethers.js v6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06640" y="1463040"/>
            <a:ext cx="2194560" cy="43891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06640" y="1463040"/>
            <a:ext cx="73152" cy="4389120"/>
          </a:xfrm>
          <a:prstGeom prst="rect">
            <a:avLst/>
          </a:prstGeom>
          <a:solidFill>
            <a:srgbClr val="375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0" y="1600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Chainlink CRE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20116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TypeScript workflows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80" y="230428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CRE SDK + Bun compiler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80" y="259689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WASM compilation target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80" y="288950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DON consensus aggregation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6680" y="318211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5 Receiver contracts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84080" y="1463040"/>
            <a:ext cx="2194560" cy="43891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784080" y="1463040"/>
            <a:ext cx="73152" cy="438912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0" y="1600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Identity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04120" y="20116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WorldID MiniKit v1.9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230428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Orb-level ZK proofs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04120" y="259689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OnchainID (T-REX)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04120" y="288950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ERC-3643 IdentityRegistry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04120" y="318211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KYC document 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BD5E1"/>
                </a:solidFill>
                <a:latin typeface="Calibri"/>
              </a:defRPr>
            </a:pPr>
            <a:r>
              <a:t>RegShield — Tokenized Vehicle Rental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347472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3B82F6"/>
                </a:solidFill>
                <a:latin typeface="Calibri"/>
              </a:rPr>
              <a:t>▸ </a:t>
            </a:r>
            <a:r>
              <a:rPr sz="1600">
                <a:solidFill>
                  <a:srgbClr val="CBD5E1"/>
                </a:solidFill>
                <a:latin typeface="Calibri"/>
              </a:rPr>
              <a:t>Chainlink CRE replaces 4 backend services + adds 1 new capability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3B82F6"/>
                </a:solidFill>
                <a:latin typeface="Calibri"/>
              </a:rPr>
              <a:t>▸ </a:t>
            </a:r>
            <a:r>
              <a:rPr sz="1600">
                <a:solidFill>
                  <a:srgbClr val="CBD5E1"/>
                </a:solidFill>
                <a:latin typeface="Calibri"/>
              </a:rPr>
              <a:t>WorldID provides sybil-resistant proof-of-personhood for investors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3B82F6"/>
                </a:solidFill>
                <a:latin typeface="Calibri"/>
              </a:rPr>
              <a:t>▸ </a:t>
            </a:r>
            <a:r>
              <a:rPr sz="1600">
                <a:solidFill>
                  <a:srgbClr val="CBD5E1"/>
                </a:solidFill>
                <a:latin typeface="Calibri"/>
              </a:rPr>
              <a:t>ERC-3643 security tokens enforce on-chain regulatory compliance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3B82F6"/>
                </a:solidFill>
                <a:latin typeface="Calibri"/>
              </a:rPr>
              <a:t>▸ </a:t>
            </a:r>
            <a:r>
              <a:rPr sz="1600">
                <a:solidFill>
                  <a:srgbClr val="CBD5E1"/>
                </a:solidFill>
                <a:latin typeface="Calibri"/>
              </a:rPr>
              <a:t>34 smart contracts deployed on Sepolia testnet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3B82F6"/>
                </a:solidFill>
                <a:latin typeface="Calibri"/>
              </a:rPr>
              <a:t>▸ </a:t>
            </a:r>
            <a:r>
              <a:rPr sz="1600">
                <a:solidFill>
                  <a:srgbClr val="CBD5E1"/>
                </a:solidFill>
                <a:latin typeface="Calibri"/>
              </a:rPr>
              <a:t>5 CRE workflows — all passing simulation, ready for DON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5760720"/>
            <a:ext cx="2468880" cy="457200"/>
          </a:xfrm>
          <a:prstGeom prst="roundRect">
            <a:avLst>
              <a:gd name="adj" fmla="val 15000"/>
            </a:avLst>
          </a:prstGeom>
          <a:solidFill>
            <a:srgbClr val="375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300"/>
              </a:spcBef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Powered by Chainlink CRE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5760720"/>
            <a:ext cx="2468880" cy="457200"/>
          </a:xfrm>
          <a:prstGeom prst="roundRect">
            <a:avLst>
              <a:gd name="adj" fmla="val 15000"/>
            </a:avLst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300"/>
              </a:spcBef>
              <a:defRPr sz="1200" b="1">
                <a:solidFill>
                  <a:srgbClr val="FFFFFF"/>
                </a:solidFill>
                <a:latin typeface="Calibri"/>
              </a:defRPr>
            </a:pPr>
            <a:r>
              <a:t>Secured by WorldID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5760720"/>
            <a:ext cx="2468880" cy="457200"/>
          </a:xfrm>
          <a:prstGeom prst="roundRect">
            <a:avLst>
              <a:gd name="adj" fmla="val 15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300"/>
              </a:spcBef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Compliant via ERC-3643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