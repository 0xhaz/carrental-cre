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959"/>
  </p:normalViewPr>
  <p:slideViewPr>
    <p:cSldViewPr snapToGrid="0" snapToObjects="1">
      <p:cViewPr varScale="1">
        <p:scale>
          <a:sx n="98" d="100"/>
          <a:sy n="98" d="100"/>
        </p:scale>
        <p:origin x="165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3412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everyone, I'm [Your Name] and today I'm presenting RegShield — a tokenized vehicle rental platform built for the Chainlink Block Magic Hackathon.</a:t>
            </a:r>
          </a:p>
          <a:p>
            <a:endParaRPr/>
          </a:p>
          <a:p>
            <a:r>
              <a:t>RegShield lets investors buy fractional ownership of real vehicles using blockchain, and earn real rental revenue — all enforced on-chain with ERC-3643 compliance tokens.</a:t>
            </a:r>
          </a:p>
          <a:p>
            <a:endParaRPr/>
          </a:p>
          <a:p>
            <a:r>
              <a:t>We heavily leverage two sponsors: Chainlink CRE for decentralized automation, and WorldID for sybil-resistant investor onboarding. Let me walk you through how it all works.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what problems are we solving?</a:t>
            </a:r>
          </a:p>
          <a:p>
            <a:endParaRPr dirty="0"/>
          </a:p>
          <a:p>
            <a:r>
              <a:rPr dirty="0"/>
              <a:t>First — centralized backend. Traditional rental platforms rely on </a:t>
            </a:r>
            <a:r>
              <a:rPr dirty="0" err="1"/>
              <a:t>cron</a:t>
            </a:r>
            <a:r>
              <a:rPr dirty="0"/>
              <a:t> jobs running on a single server for bookings, campaigns, and revenue. If that server goes down, everything stops. There's no verifiability.</a:t>
            </a:r>
          </a:p>
          <a:p>
            <a:endParaRPr dirty="0"/>
          </a:p>
          <a:p>
            <a:r>
              <a:rPr dirty="0"/>
              <a:t>Second — no on-chain compliance. Vehicle investments today have no regulatory framework enforced by code. Token transfers happen without any compliance checks.</a:t>
            </a:r>
          </a:p>
          <a:p>
            <a:endParaRPr dirty="0"/>
          </a:p>
          <a:p>
            <a:r>
              <a:rPr dirty="0"/>
              <a:t>Third — sybil vulnerability. Without proof-of-personhood, one person can create multiple investor accounts and game investment allocations.</a:t>
            </a:r>
          </a:p>
          <a:p>
            <a:endParaRPr dirty="0"/>
          </a:p>
          <a:p>
            <a:r>
              <a:rPr dirty="0"/>
              <a:t>Fourth — manual milestone verification. An admin has to manually check VIN numbers, insurance documents, and registration before releasing escrow funds. This is slow, error-prone, and doesn't scale.</a:t>
            </a:r>
          </a:p>
          <a:p>
            <a:endParaRPr dirty="0"/>
          </a:p>
          <a:p>
            <a:r>
              <a:rPr dirty="0" err="1"/>
              <a:t>RegShield</a:t>
            </a:r>
            <a:r>
              <a:rPr dirty="0"/>
              <a:t> solves ALL of these with </a:t>
            </a:r>
            <a:r>
              <a:rPr dirty="0" err="1"/>
              <a:t>Chainlink</a:t>
            </a:r>
            <a:r>
              <a:rPr dirty="0"/>
              <a:t> CRE and </a:t>
            </a:r>
            <a:r>
              <a:rPr dirty="0" err="1"/>
              <a:t>WorldID</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solution has three pillars.</a:t>
            </a:r>
          </a:p>
          <a:p>
            <a:endParaRPr/>
          </a:p>
          <a:p>
            <a:r>
              <a:t>Chainlink CRE — this is the big one. We built 5 off-chain workflows that completely replace our backend cron jobs. These run on Chainlink's Decentralized Oracle Network, so there's no single point of failure. They handle everything from automated VIN validation via the NHTSA API, to milestone-based escrow verification, to vehicle telematics monitoring.</a:t>
            </a:r>
          </a:p>
          <a:p>
            <a:endParaRPr/>
          </a:p>
          <a:p>
            <a:r>
              <a:t>WorldID — we use Orb-level zero-knowledge verification for investor onboarding. This means one human equals one verified investor account. No sybil attacks possible. The verification happens through our WorldIDVerifier smart contract on Sepolia.</a:t>
            </a:r>
          </a:p>
          <a:p>
            <a:endParaRPr/>
          </a:p>
          <a:p>
            <a:r>
              <a:t>ERC-3643 Security Tokens — every vehicle gets two compliance tokens. An AssetToken representing fractional ownership, and a RevenueToken for quarterly rental income rights. The Identity Registry enforces transfer restrictions based on investor type and KYC status.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user journey in four steps.</a:t>
            </a:r>
          </a:p>
          <a:p>
            <a:endParaRPr/>
          </a:p>
          <a:p>
            <a:r>
              <a:t>Step 1 — An investor selects a vehicle campaign on our marketplace and commits ETH. The funds are locked in our PaymentEscrow smart contract. Nothing gets released until milestones are verified.</a:t>
            </a:r>
          </a:p>
          <a:p>
            <a:endParaRPr/>
          </a:p>
          <a:p>
            <a:r>
              <a:t>Step 2 — This is where Chainlink CRE comes in. Our CRE workflows automatically verify 4 milestones: VIN validation through the NHTSA API, proof of purchase, insurance verification, and vehicle registration. No manual admin approval needed.</a:t>
            </a:r>
          </a:p>
          <a:p>
            <a:endParaRPr/>
          </a:p>
          <a:p>
            <a:r>
              <a:t>Step 3 — Once milestones are verified, ERC-3643 AssetTokens and RevenueTokens are minted to the verified investors. These are compliance tokens — only KYC-verified, WorldID-verified investors can hold them.</a:t>
            </a:r>
          </a:p>
          <a:p>
            <a:endParaRPr/>
          </a:p>
          <a:p>
            <a:r>
              <a:t>Step 4 — The vehicle goes live on our rental platform and generates income. Revenue is distributed quarterly through a waterfall model: 50% to investors, 10% to the vehicle operator, and the rest covers maintenance and platform fees.</a:t>
            </a:r>
          </a:p>
          <a:p>
            <a:endParaRPr/>
          </a:p>
          <a:p>
            <a:r>
              <a:t>The key insight here — Chainlink CRE replaces 4 centralized backend services and adds 1 entirely new capability that wasn't possible before: real-time compliance monitoring.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Let's dive deeper into our </a:t>
            </a:r>
            <a:r>
              <a:rPr dirty="0" err="1"/>
              <a:t>Chainlink</a:t>
            </a:r>
            <a:r>
              <a:rPr dirty="0"/>
              <a:t> CRE integration — this is the core of our project.</a:t>
            </a:r>
          </a:p>
          <a:p>
            <a:endParaRPr dirty="0"/>
          </a:p>
          <a:p>
            <a:r>
              <a:rPr dirty="0"/>
              <a:t>We built 5 TypeScript workflows that compile to WASM and run on </a:t>
            </a:r>
            <a:r>
              <a:rPr dirty="0" err="1"/>
              <a:t>Chainlink</a:t>
            </a:r>
            <a:r>
              <a:rPr dirty="0"/>
              <a:t> DON nodes.</a:t>
            </a:r>
          </a:p>
          <a:p>
            <a:endParaRPr dirty="0"/>
          </a:p>
          <a:p>
            <a:r>
              <a:rPr dirty="0"/>
              <a:t>The Onboarding workflow replaces manual admin approval. It auto-verifies investor identity by checking ERC-3643 Identity Registry and </a:t>
            </a:r>
            <a:r>
              <a:rPr dirty="0" err="1"/>
              <a:t>WorldID</a:t>
            </a:r>
            <a:r>
              <a:rPr dirty="0"/>
              <a:t> status, then generates 5 onboarding reports.</a:t>
            </a:r>
          </a:p>
          <a:p>
            <a:endParaRPr dirty="0"/>
          </a:p>
          <a:p>
            <a:r>
              <a:rPr dirty="0"/>
              <a:t>The Campaign Monitor workflow replaces our </a:t>
            </a:r>
            <a:r>
              <a:rPr dirty="0" err="1"/>
              <a:t>campaignScheduler.js</a:t>
            </a:r>
            <a:r>
              <a:rPr dirty="0"/>
              <a:t> </a:t>
            </a:r>
            <a:r>
              <a:rPr dirty="0" err="1"/>
              <a:t>cron</a:t>
            </a:r>
            <a:r>
              <a:rPr dirty="0"/>
              <a:t> job. It detects expired or underfunded campaigns and triggers batch refunds automatically.</a:t>
            </a:r>
          </a:p>
          <a:p>
            <a:endParaRPr dirty="0"/>
          </a:p>
          <a:p>
            <a:r>
              <a:rPr dirty="0"/>
              <a:t>The Rental Lifecycle workflow replaces </a:t>
            </a:r>
            <a:r>
              <a:rPr dirty="0" err="1"/>
              <a:t>bookingScheduler.js</a:t>
            </a:r>
            <a:r>
              <a:rPr dirty="0"/>
              <a:t>. It handles 4-milestone verification: VIN lookup, escrow check, insurance validation, and registration confirmation.</a:t>
            </a:r>
          </a:p>
          <a:p>
            <a:endParaRPr dirty="0"/>
          </a:p>
          <a:p>
            <a:r>
              <a:rPr dirty="0"/>
              <a:t>The Vehicle Telematics workflow replaces </a:t>
            </a:r>
            <a:r>
              <a:rPr dirty="0" err="1"/>
              <a:t>revenueSyncService.js</a:t>
            </a:r>
            <a:r>
              <a:rPr dirty="0"/>
              <a:t>. It polls odometer and telemetry data and updates the </a:t>
            </a:r>
            <a:r>
              <a:rPr dirty="0" err="1"/>
              <a:t>VehicleNFT</a:t>
            </a:r>
            <a:r>
              <a:rPr dirty="0"/>
              <a:t> on-chain.</a:t>
            </a:r>
          </a:p>
          <a:p>
            <a:endParaRPr dirty="0"/>
          </a:p>
          <a:p>
            <a:r>
              <a:rPr dirty="0"/>
              <a:t>And finally, the Compliance Monitor — this is a completely NEW capability that didn't exist before. It monitors registration expiry, insurance expiry, and overdue maintenance in real-time. This was impossible with our centralized backend.</a:t>
            </a:r>
          </a:p>
          <a:p>
            <a:endParaRPr dirty="0"/>
          </a:p>
          <a:p>
            <a:r>
              <a:rPr dirty="0"/>
              <a:t>All 5 workflows submit ABI-encoded reports to 5 Receiver contracts deployed on </a:t>
            </a:r>
            <a:r>
              <a:rPr dirty="0" err="1"/>
              <a:t>Sepolia</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let's look at our </a:t>
            </a:r>
            <a:r>
              <a:rPr dirty="0" err="1"/>
              <a:t>WorldID</a:t>
            </a:r>
            <a:r>
              <a:rPr dirty="0"/>
              <a:t> integration — our second sponsor technology.</a:t>
            </a:r>
          </a:p>
          <a:p>
            <a:endParaRPr dirty="0"/>
          </a:p>
          <a:p>
            <a:r>
              <a:rPr dirty="0"/>
              <a:t>The flow has 4 steps.</a:t>
            </a:r>
          </a:p>
          <a:p>
            <a:endParaRPr dirty="0"/>
          </a:p>
          <a:p>
            <a:r>
              <a:rPr dirty="0"/>
              <a:t>First, the investor opens </a:t>
            </a:r>
            <a:r>
              <a:rPr dirty="0" err="1"/>
              <a:t>RegShield</a:t>
            </a:r>
            <a:r>
              <a:rPr dirty="0"/>
              <a:t> in the World App and completes Orb-level ZK verification. This generates a zero-knowledge proof that proves they're a unique human without revealing their identity.</a:t>
            </a:r>
          </a:p>
          <a:p>
            <a:endParaRPr dirty="0"/>
          </a:p>
          <a:p>
            <a:r>
              <a:rPr dirty="0"/>
              <a:t>Second, our backend API validates the proof via the </a:t>
            </a:r>
            <a:r>
              <a:rPr dirty="0" err="1"/>
              <a:t>Worldcoin</a:t>
            </a:r>
            <a:r>
              <a:rPr dirty="0"/>
              <a:t> cloud verification service. It returns a </a:t>
            </a:r>
            <a:r>
              <a:rPr dirty="0" err="1"/>
              <a:t>merkle</a:t>
            </a:r>
            <a:r>
              <a:rPr dirty="0"/>
              <a:t> root and nullifier hash.</a:t>
            </a:r>
          </a:p>
          <a:p>
            <a:endParaRPr dirty="0"/>
          </a:p>
          <a:p>
            <a:r>
              <a:rPr dirty="0"/>
              <a:t>Third, our </a:t>
            </a:r>
            <a:r>
              <a:rPr dirty="0" err="1"/>
              <a:t>WorldIDVerifier</a:t>
            </a:r>
            <a:r>
              <a:rPr dirty="0"/>
              <a:t> smart contract — deployed at the address shown below — calls the World ID Router contract to verify the proof on-chain. It maps the wallet address as verified and stores the nullifier hash to prevent the same human from verifying twice.</a:t>
            </a:r>
          </a:p>
          <a:p>
            <a:endParaRPr dirty="0"/>
          </a:p>
          <a:p>
            <a:r>
              <a:rPr dirty="0"/>
              <a:t>Fourth, our frontend has a </a:t>
            </a:r>
            <a:r>
              <a:rPr dirty="0" err="1"/>
              <a:t>useComplianceStatus</a:t>
            </a:r>
            <a:r>
              <a:rPr dirty="0"/>
              <a:t>() hook that checks </a:t>
            </a:r>
            <a:r>
              <a:rPr dirty="0" err="1"/>
              <a:t>isWorldIDVerified</a:t>
            </a:r>
            <a:r>
              <a:rPr dirty="0"/>
              <a:t>() before enabling any investment actions. If you're not </a:t>
            </a:r>
            <a:r>
              <a:rPr dirty="0" err="1"/>
              <a:t>WorldID</a:t>
            </a:r>
            <a:r>
              <a:rPr dirty="0"/>
              <a:t> verified, you simply cannot invest.</a:t>
            </a:r>
          </a:p>
          <a:p>
            <a:endParaRPr dirty="0"/>
          </a:p>
          <a:p>
            <a:r>
              <a:rPr dirty="0"/>
              <a:t>The key function is </a:t>
            </a:r>
            <a:r>
              <a:rPr dirty="0" err="1"/>
              <a:t>verifyAndRegister</a:t>
            </a:r>
            <a:r>
              <a:rPr dirty="0"/>
              <a:t> — it takes the signal, root, nullifier hash, and proof, validates everything on-chain, and registers the user. The nullifier hash is the sybil resistance mechanism — same human, same nullifier, can't register twice.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our three-layer architecture.</a:t>
            </a:r>
          </a:p>
          <a:p>
            <a:endParaRPr/>
          </a:p>
          <a:p>
            <a:r>
              <a:t>The Frontend is built with Next.js. We use Wagmi and Viem for wallet and contract interaction, Chainlink Price Feed hooks for live ETH/USD prices, WorldID MiniKit for identity verification, and custom ERC-3643 compliance status hooks. We have role-based dashboards for all four user types.</a:t>
            </a:r>
          </a:p>
          <a:p>
            <a:endParaRPr/>
          </a:p>
          <a:p>
            <a:r>
              <a:t>The Smart Contract layer has 34 contracts deployed on Sepolia. Key ones include VehicleNFT for the vehicle registry, PaymentEscrow for milestone-locked funds, the ERC-3643 token factories for AssetTokens and RevenueTokens, WorldIDVerifier for proof-of-personhood, and 5 CRE Receiver contracts that accept reports from the DON.</a:t>
            </a:r>
          </a:p>
          <a:p>
            <a:endParaRPr/>
          </a:p>
          <a:p>
            <a:r>
              <a:t>The Chainlink CRE layer is the off-chain compute. Our 5 TypeScript workflows compile to WASM and run on DON nodes with consensus aggregation. They can read on-chain state and call external APIs like NHTSA for VIN validation. They submit ABI-encoded reports back to the Receiver contracts.</a:t>
            </a:r>
          </a:p>
          <a:p>
            <a:endParaRPr/>
          </a:p>
          <a:p>
            <a:r>
              <a:t>The important thing to note — CRE replaces our backend cron jobs: campaignScheduler, bookingScheduler, and revenueSyncService. These were single points of failure. Now they run decentralized.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have 34 smart contracts deployed on </a:t>
            </a:r>
            <a:r>
              <a:rPr dirty="0" err="1"/>
              <a:t>Sepolia</a:t>
            </a:r>
            <a:r>
              <a:rPr dirty="0"/>
              <a:t>. Let me highlight the key ones.</a:t>
            </a:r>
          </a:p>
          <a:p>
            <a:endParaRPr dirty="0"/>
          </a:p>
          <a:p>
            <a:r>
              <a:rPr dirty="0"/>
              <a:t>In the Identity and Compliance group — the </a:t>
            </a:r>
            <a:r>
              <a:rPr dirty="0" err="1"/>
              <a:t>IdentityRegistry</a:t>
            </a:r>
            <a:r>
              <a:rPr dirty="0"/>
              <a:t> is the ERC-3643 on-chain identity store. The </a:t>
            </a:r>
            <a:r>
              <a:rPr dirty="0" err="1"/>
              <a:t>WorldIDVerifier</a:t>
            </a:r>
            <a:r>
              <a:rPr dirty="0"/>
              <a:t> handles proof-of-personhood verification. </a:t>
            </a:r>
            <a:r>
              <a:rPr dirty="0" err="1"/>
              <a:t>ComplianceRules</a:t>
            </a:r>
            <a:r>
              <a:rPr dirty="0"/>
              <a:t> enforces transfer restrictions.</a:t>
            </a:r>
          </a:p>
          <a:p>
            <a:endParaRPr dirty="0"/>
          </a:p>
          <a:p>
            <a:r>
              <a:rPr dirty="0"/>
              <a:t>In Tokens and Revenue — </a:t>
            </a:r>
            <a:r>
              <a:rPr dirty="0" err="1"/>
              <a:t>AssetTokenFactory</a:t>
            </a:r>
            <a:r>
              <a:rPr dirty="0"/>
              <a:t> and </a:t>
            </a:r>
            <a:r>
              <a:rPr dirty="0" err="1"/>
              <a:t>RevenueTokenFactory</a:t>
            </a:r>
            <a:r>
              <a:rPr dirty="0"/>
              <a:t> deploy ERC-3643 compliance tokens for each vehicle. The </a:t>
            </a:r>
            <a:r>
              <a:rPr dirty="0" err="1"/>
              <a:t>RevenueDistributor</a:t>
            </a:r>
            <a:r>
              <a:rPr dirty="0"/>
              <a:t> handles the waterfall distribution engine — it automatically splits rental revenue: 50% to investors, 10% to the operator.</a:t>
            </a:r>
          </a:p>
          <a:p>
            <a:endParaRPr dirty="0"/>
          </a:p>
          <a:p>
            <a:r>
              <a:rPr dirty="0"/>
              <a:t>In Vehicle and Payments — </a:t>
            </a:r>
            <a:r>
              <a:rPr dirty="0" err="1"/>
              <a:t>VehicleNFT</a:t>
            </a:r>
            <a:r>
              <a:rPr dirty="0"/>
              <a:t> is our ERC-721 vehicle registry where each car is an NFT. </a:t>
            </a:r>
            <a:r>
              <a:rPr dirty="0" err="1"/>
              <a:t>InvestmentEscrow</a:t>
            </a:r>
            <a:r>
              <a:rPr dirty="0"/>
              <a:t> holds funds locked until milestones are verified. </a:t>
            </a:r>
            <a:r>
              <a:rPr dirty="0" err="1"/>
              <a:t>RentalPaymentProtocol</a:t>
            </a:r>
            <a:r>
              <a:rPr dirty="0"/>
              <a:t> processes rental payments.</a:t>
            </a:r>
          </a:p>
          <a:p>
            <a:endParaRPr dirty="0"/>
          </a:p>
          <a:p>
            <a:r>
              <a:rPr dirty="0"/>
              <a:t>And our CRE Receivers — we have 5 Receiver contracts, one for each CRE workflow. </a:t>
            </a:r>
            <a:r>
              <a:rPr dirty="0" err="1"/>
              <a:t>OnboardingReceiver</a:t>
            </a:r>
            <a:r>
              <a:rPr dirty="0"/>
              <a:t> accepts identity verification reports, </a:t>
            </a:r>
            <a:r>
              <a:rPr dirty="0" err="1"/>
              <a:t>VehicleReceiver</a:t>
            </a:r>
            <a:r>
              <a:rPr dirty="0"/>
              <a:t> accepts telematics data, and </a:t>
            </a:r>
            <a:r>
              <a:rPr dirty="0" err="1"/>
              <a:t>PaymentReceiver</a:t>
            </a:r>
            <a:r>
              <a:rPr dirty="0"/>
              <a:t> accepts milestone completion reports. All of these are verified on </a:t>
            </a:r>
            <a:r>
              <a:rPr dirty="0" err="1"/>
              <a:t>Sepolia</a:t>
            </a:r>
            <a:r>
              <a:rPr dirty="0"/>
              <a:t> and use the </a:t>
            </a:r>
            <a:r>
              <a:rPr dirty="0" err="1"/>
              <a:t>MockKeystoneForwarder</a:t>
            </a:r>
            <a:r>
              <a:rPr dirty="0"/>
              <a:t> for simulation.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RegShield supports four user roles.</a:t>
            </a:r>
          </a:p>
          <a:p>
            <a:endParaRPr/>
          </a:p>
          <a:p>
            <a:r>
              <a:t>Investors can browse the vehicle marketplace, invest ETH into campaigns, and earn quarterly rental revenue. They must complete WorldID verification for sybil resistance and upload KYC documents which get registered on-chain via ERC-3643. Once verified, they receive AssetTokens and RevenueTokens.</a:t>
            </a:r>
          </a:p>
          <a:p>
            <a:endParaRPr/>
          </a:p>
          <a:p>
            <a:r>
              <a:t>Rentors — that's vehicle owners — can register their vehicles as ERC-721 NFTs, create fundraising campaigns to tokenize their vehicles, manage rental bookings, and earn a 10% operator fee on all revenue generated.</a:t>
            </a:r>
          </a:p>
          <a:p>
            <a:endParaRPr/>
          </a:p>
          <a:p>
            <a:r>
              <a:t>Renters can browse and filter available vehicles, book them with date selection, optionally verify with WorldID for trusted rentals, and leave reviews.</a:t>
            </a:r>
          </a:p>
          <a:p>
            <a:endParaRPr/>
          </a:p>
          <a:p>
            <a:r>
              <a:t>Admins review KYC submissions, monitor the CRE activity feed to see all automated actions, track milestone verification status, and manage disputes and refunds.</a:t>
            </a:r>
          </a:p>
          <a:p>
            <a:endParaRPr/>
          </a:p>
          <a:p>
            <a:r>
              <a:t>Each role has its own dedicated dashboard in the frontend with real-time data.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our CRE simulation results — all 5 workflows pass successfully.</a:t>
            </a:r>
          </a:p>
          <a:p>
            <a:endParaRPr/>
          </a:p>
          <a:p>
            <a:r>
              <a:t>The onboarding workflow generates 5 reports covering investor identity verification. The campaign workflow produces 2 reports for expired campaign detection. The rental workflow generates 3 milestone verification reports. The vehicle workflow produces 3 telemetry reports with odometer data. And the compliance workflow generates 3 compliance monitoring reports.</a:t>
            </a:r>
          </a:p>
          <a:p>
            <a:endParaRPr/>
          </a:p>
          <a:p>
            <a:r>
              <a:t>That's 16 total reports across 5 workflows, all submitted to 5 Receiver contracts on Sepolia.</a:t>
            </a:r>
          </a:p>
          <a:p>
            <a:endParaRPr/>
          </a:p>
          <a:p>
            <a:r>
              <a:t>These workflows are currently running in simulation mode using the CRE SDK simulator. The simulator validates the WASM binaries, consensus logic, and report encoding. All 5 are ready for DON deployment once we have access to a live Chainlink node.</a:t>
            </a:r>
          </a:p>
          <a:p>
            <a:endParaRPr/>
          </a:p>
          <a:p>
            <a:r>
              <a:t>We have 34 smart contracts deployed on Sepolia backing all of this.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overview of our tech stack.</a:t>
            </a:r>
          </a:p>
          <a:p>
            <a:endParaRPr/>
          </a:p>
          <a:p>
            <a:r>
              <a:t>Frontend — Next.js 14 with App Router, TypeScript, TailwindCSS for styling, Wagmi v3 and Viem v2 for blockchain interaction, Thirdweb SDK for wallet connectivity, and Framer Motion for animations.</a:t>
            </a:r>
          </a:p>
          <a:p>
            <a:endParaRPr/>
          </a:p>
          <a:p>
            <a:r>
              <a:t>Smart Contracts — Solidity 0.8.24, built and tested with Foundry. 34 contracts on Sepolia including ERC-721, ERC-3643 tokens, and OpenZeppelin v5.</a:t>
            </a:r>
          </a:p>
          <a:p>
            <a:endParaRPr/>
          </a:p>
          <a:p>
            <a:r>
              <a:t>Backend — Node.js with Express, MongoDB with Mongoose for data storage, JWT authentication, node-cron schedulers for the centralized services that CRE replaces, and ethers.js v6 for blockchain interaction.</a:t>
            </a:r>
          </a:p>
          <a:p>
            <a:endParaRPr/>
          </a:p>
          <a:p>
            <a:r>
              <a:t>Chainlink CRE — TypeScript workflows compiled to WASM using the CRE SDK and Bun, running on DON nodes with consensus aggregation, with 5 Receiver contracts.</a:t>
            </a:r>
          </a:p>
          <a:p>
            <a:endParaRPr/>
          </a:p>
          <a:p>
            <a:r>
              <a:t>Identity — WorldID MiniKit v1.9 for Orb-level ZK proofs, OnchainID from the T-REX protocol for ERC-3643 identity, and a full KYC document management system.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wrap up — here are our key takeaways.</a:t>
            </a:r>
          </a:p>
          <a:p>
            <a:endParaRPr/>
          </a:p>
          <a:p>
            <a:r>
              <a:t>Chainlink CRE replaces 4 centralized backend services and adds 1 entirely new capability — real-time compliance monitoring — that wasn't possible with our traditional architecture.</a:t>
            </a:r>
          </a:p>
          <a:p>
            <a:endParaRPr/>
          </a:p>
          <a:p>
            <a:r>
              <a:t>WorldID provides sybil-resistant proof-of-personhood, ensuring one human equals one verified investor. No fake accounts, no gaming the system.</a:t>
            </a:r>
          </a:p>
          <a:p>
            <a:endParaRPr/>
          </a:p>
          <a:p>
            <a:r>
              <a:t>ERC-3643 security tokens enforce regulatory compliance on-chain. Every token transfer is checked against the Identity Registry and compliance rules.</a:t>
            </a:r>
          </a:p>
          <a:p>
            <a:endParaRPr/>
          </a:p>
          <a:p>
            <a:r>
              <a:t>We deployed 34 smart contracts on Sepolia and built 5 CRE workflows — all passing simulation and ready for DON deployment.</a:t>
            </a:r>
          </a:p>
          <a:p>
            <a:endParaRPr/>
          </a:p>
          <a:p>
            <a:r>
              <a:t>RegShield demonstrates how Chainlink CRE and WorldID can transform a traditional rental platform into a fully decentralized, compliant, and automated system.</a:t>
            </a:r>
          </a:p>
          <a:p>
            <a:endParaRPr/>
          </a:p>
          <a:p>
            <a:r>
              <a:t>Thank you for your time. I'm happy to answer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1">
                <a:solidFill>
                  <a:srgbClr val="FFFFFF"/>
                </a:solidFill>
                <a:latin typeface="Calibri"/>
              </a:defRPr>
            </a:pPr>
            <a:r>
              <a:t>RegShield</a:t>
            </a:r>
          </a:p>
        </p:txBody>
      </p:sp>
      <p:sp>
        <p:nvSpPr>
          <p:cNvPr id="4" name="TextBox 3"/>
          <p:cNvSpPr txBox="1"/>
          <p:nvPr/>
        </p:nvSpPr>
        <p:spPr>
          <a:xfrm>
            <a:off x="1371600" y="2743200"/>
            <a:ext cx="9144000" cy="731520"/>
          </a:xfrm>
          <a:prstGeom prst="rect">
            <a:avLst/>
          </a:prstGeom>
          <a:noFill/>
        </p:spPr>
        <p:txBody>
          <a:bodyPr wrap="square">
            <a:spAutoFit/>
          </a:bodyPr>
          <a:lstStyle/>
          <a:p>
            <a:pPr algn="ctr">
              <a:defRPr sz="2800" b="0">
                <a:solidFill>
                  <a:srgbClr val="CBD5E1"/>
                </a:solidFill>
                <a:latin typeface="Calibri"/>
              </a:defRPr>
            </a:pPr>
            <a:r>
              <a:t>Tokenized Vehicle Rental Platform</a:t>
            </a:r>
          </a:p>
        </p:txBody>
      </p:sp>
      <p:sp>
        <p:nvSpPr>
          <p:cNvPr id="5" name="TextBox 4"/>
          <p:cNvSpPr txBox="1"/>
          <p:nvPr/>
        </p:nvSpPr>
        <p:spPr>
          <a:xfrm>
            <a:off x="1828800" y="3474720"/>
            <a:ext cx="8229600" cy="548640"/>
          </a:xfrm>
          <a:prstGeom prst="rect">
            <a:avLst/>
          </a:prstGeom>
          <a:noFill/>
        </p:spPr>
        <p:txBody>
          <a:bodyPr wrap="square">
            <a:spAutoFit/>
          </a:bodyPr>
          <a:lstStyle/>
          <a:p>
            <a:pPr algn="ctr">
              <a:defRPr sz="1800" b="0">
                <a:solidFill>
                  <a:srgbClr val="94A3B8"/>
                </a:solidFill>
                <a:latin typeface="Calibri"/>
              </a:defRPr>
            </a:pPr>
            <a:r>
              <a:t>Invest in Vehicles. Earn Real Revenue. All On-Chain.</a:t>
            </a:r>
          </a:p>
        </p:txBody>
      </p:sp>
      <p:sp>
        <p:nvSpPr>
          <p:cNvPr id="6" name="Rounded Rectangle 5"/>
          <p:cNvSpPr/>
          <p:nvPr/>
        </p:nvSpPr>
        <p:spPr>
          <a:xfrm>
            <a:off x="3474720" y="4389120"/>
            <a:ext cx="1645920" cy="411480"/>
          </a:xfrm>
          <a:prstGeom prst="roundRect">
            <a:avLst>
              <a:gd name="adj" fmla="val 15000"/>
            </a:avLst>
          </a:prstGeom>
          <a:solidFill>
            <a:srgbClr val="375BD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defRPr sz="1300" b="1">
                <a:solidFill>
                  <a:srgbClr val="FFFFFF"/>
                </a:solidFill>
                <a:latin typeface="Calibri"/>
              </a:defRPr>
            </a:pPr>
            <a:r>
              <a:t>Chainlink CRE</a:t>
            </a:r>
          </a:p>
        </p:txBody>
      </p:sp>
      <p:sp>
        <p:nvSpPr>
          <p:cNvPr id="7" name="Rounded Rectangle 6"/>
          <p:cNvSpPr/>
          <p:nvPr/>
        </p:nvSpPr>
        <p:spPr>
          <a:xfrm>
            <a:off x="5394960" y="4389120"/>
            <a:ext cx="1645920" cy="411480"/>
          </a:xfrm>
          <a:prstGeom prst="roundRect">
            <a:avLst>
              <a:gd name="adj" fmla="val 15000"/>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defRPr sz="1300" b="1">
                <a:solidFill>
                  <a:srgbClr val="FFFFFF"/>
                </a:solidFill>
                <a:latin typeface="Calibri"/>
              </a:defRPr>
            </a:pPr>
            <a:r>
              <a:t>WorldID</a:t>
            </a:r>
          </a:p>
        </p:txBody>
      </p:sp>
      <p:sp>
        <p:nvSpPr>
          <p:cNvPr id="8" name="Rounded Rectangle 7"/>
          <p:cNvSpPr/>
          <p:nvPr/>
        </p:nvSpPr>
        <p:spPr>
          <a:xfrm>
            <a:off x="7315200" y="4389120"/>
            <a:ext cx="1645920" cy="411480"/>
          </a:xfrm>
          <a:prstGeom prst="roundRect">
            <a:avLst>
              <a:gd name="adj" fmla="val 15000"/>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defRPr sz="1300" b="1">
                <a:solidFill>
                  <a:srgbClr val="FFFFFF"/>
                </a:solidFill>
                <a:latin typeface="Calibri"/>
              </a:defRPr>
            </a:pPr>
            <a:r>
              <a:t>ERC-3643</a:t>
            </a:r>
          </a:p>
        </p:txBody>
      </p:sp>
      <p:sp>
        <p:nvSpPr>
          <p:cNvPr id="9" name="TextBox 8"/>
          <p:cNvSpPr txBox="1"/>
          <p:nvPr/>
        </p:nvSpPr>
        <p:spPr>
          <a:xfrm>
            <a:off x="3657600" y="5669280"/>
            <a:ext cx="4572000" cy="365760"/>
          </a:xfrm>
          <a:prstGeom prst="rect">
            <a:avLst/>
          </a:prstGeom>
          <a:noFill/>
        </p:spPr>
        <p:txBody>
          <a:bodyPr wrap="square">
            <a:spAutoFit/>
          </a:bodyPr>
          <a:lstStyle/>
          <a:p>
            <a:pPr algn="ctr">
              <a:defRPr sz="1400" b="0">
                <a:solidFill>
                  <a:srgbClr val="94A3B8"/>
                </a:solidFill>
                <a:latin typeface="Calibri"/>
              </a:defRPr>
            </a:pPr>
            <a:r>
              <a:t>Chainlink Block Magic Hackathon — March 2026</a:t>
            </a:r>
          </a:p>
        </p:txBody>
      </p:sp>
      <p:sp>
        <p:nvSpPr>
          <p:cNvPr id="10" name="TextBox 9"/>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The Problem</a:t>
            </a:r>
          </a:p>
        </p:txBody>
      </p:sp>
      <p:sp>
        <p:nvSpPr>
          <p:cNvPr id="3" name="Rounded Rectangle 2"/>
          <p:cNvSpPr/>
          <p:nvPr/>
        </p:nvSpPr>
        <p:spPr>
          <a:xfrm>
            <a:off x="731520" y="1554480"/>
            <a:ext cx="5212080" cy="228600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554480"/>
            <a:ext cx="73152" cy="22860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91640"/>
            <a:ext cx="4846320" cy="365760"/>
          </a:xfrm>
          <a:prstGeom prst="rect">
            <a:avLst/>
          </a:prstGeom>
          <a:noFill/>
        </p:spPr>
        <p:txBody>
          <a:bodyPr wrap="square">
            <a:spAutoFit/>
          </a:bodyPr>
          <a:lstStyle/>
          <a:p>
            <a:pPr algn="l">
              <a:defRPr sz="1600" b="1">
                <a:solidFill>
                  <a:srgbClr val="FFFFFF"/>
                </a:solidFill>
                <a:latin typeface="Calibri"/>
              </a:defRPr>
            </a:pPr>
            <a:r>
              <a:t>Centralized Backend</a:t>
            </a:r>
          </a:p>
        </p:txBody>
      </p:sp>
      <p:sp>
        <p:nvSpPr>
          <p:cNvPr id="6" name="TextBox 5"/>
          <p:cNvSpPr txBox="1"/>
          <p:nvPr/>
        </p:nvSpPr>
        <p:spPr>
          <a:xfrm>
            <a:off x="1051560" y="2103120"/>
            <a:ext cx="4754880" cy="320040"/>
          </a:xfrm>
          <a:prstGeom prst="rect">
            <a:avLst/>
          </a:prstGeom>
          <a:noFill/>
        </p:spPr>
        <p:txBody>
          <a:bodyPr wrap="square">
            <a:spAutoFit/>
          </a:bodyPr>
          <a:lstStyle/>
          <a:p>
            <a:pPr algn="l">
              <a:defRPr sz="1300" b="0">
                <a:solidFill>
                  <a:srgbClr val="CBD5E1"/>
                </a:solidFill>
                <a:latin typeface="Calibri"/>
              </a:defRPr>
            </a:pPr>
            <a:r>
              <a:t>• Cron jobs for booking, campaigns, revenue sync</a:t>
            </a:r>
          </a:p>
        </p:txBody>
      </p:sp>
      <p:sp>
        <p:nvSpPr>
          <p:cNvPr id="7" name="TextBox 6"/>
          <p:cNvSpPr txBox="1"/>
          <p:nvPr/>
        </p:nvSpPr>
        <p:spPr>
          <a:xfrm>
            <a:off x="1051560" y="2395728"/>
            <a:ext cx="4754880" cy="320040"/>
          </a:xfrm>
          <a:prstGeom prst="rect">
            <a:avLst/>
          </a:prstGeom>
          <a:noFill/>
        </p:spPr>
        <p:txBody>
          <a:bodyPr wrap="square">
            <a:spAutoFit/>
          </a:bodyPr>
          <a:lstStyle/>
          <a:p>
            <a:pPr algn="l">
              <a:defRPr sz="1300" b="0">
                <a:solidFill>
                  <a:srgbClr val="CBD5E1"/>
                </a:solidFill>
                <a:latin typeface="Calibri"/>
              </a:defRPr>
            </a:pPr>
            <a:r>
              <a:t>• Single point of failure — no verifiability</a:t>
            </a:r>
          </a:p>
        </p:txBody>
      </p:sp>
      <p:sp>
        <p:nvSpPr>
          <p:cNvPr id="8" name="TextBox 7"/>
          <p:cNvSpPr txBox="1"/>
          <p:nvPr/>
        </p:nvSpPr>
        <p:spPr>
          <a:xfrm>
            <a:off x="1051560" y="2688336"/>
            <a:ext cx="4754880" cy="320040"/>
          </a:xfrm>
          <a:prstGeom prst="rect">
            <a:avLst/>
          </a:prstGeom>
          <a:noFill/>
        </p:spPr>
        <p:txBody>
          <a:bodyPr wrap="square">
            <a:spAutoFit/>
          </a:bodyPr>
          <a:lstStyle/>
          <a:p>
            <a:pPr algn="l">
              <a:defRPr sz="1300" b="0">
                <a:solidFill>
                  <a:srgbClr val="CBD5E1"/>
                </a:solidFill>
                <a:latin typeface="Calibri"/>
              </a:defRPr>
            </a:pPr>
            <a:r>
              <a:t>• Admin manually approves KYC &amp; milestones</a:t>
            </a:r>
          </a:p>
        </p:txBody>
      </p:sp>
      <p:sp>
        <p:nvSpPr>
          <p:cNvPr id="9" name="Rounded Rectangle 8"/>
          <p:cNvSpPr/>
          <p:nvPr/>
        </p:nvSpPr>
        <p:spPr>
          <a:xfrm>
            <a:off x="6309360" y="1554480"/>
            <a:ext cx="5212080" cy="228600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09360" y="1554480"/>
            <a:ext cx="73152" cy="22860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1691640"/>
            <a:ext cx="4846320" cy="365760"/>
          </a:xfrm>
          <a:prstGeom prst="rect">
            <a:avLst/>
          </a:prstGeom>
          <a:noFill/>
        </p:spPr>
        <p:txBody>
          <a:bodyPr wrap="square">
            <a:spAutoFit/>
          </a:bodyPr>
          <a:lstStyle/>
          <a:p>
            <a:pPr algn="l">
              <a:defRPr sz="1600" b="1">
                <a:solidFill>
                  <a:srgbClr val="FFFFFF"/>
                </a:solidFill>
                <a:latin typeface="Calibri"/>
              </a:defRPr>
            </a:pPr>
            <a:r>
              <a:t>No On-Chain Compliance</a:t>
            </a:r>
          </a:p>
        </p:txBody>
      </p:sp>
      <p:sp>
        <p:nvSpPr>
          <p:cNvPr id="12" name="TextBox 11"/>
          <p:cNvSpPr txBox="1"/>
          <p:nvPr/>
        </p:nvSpPr>
        <p:spPr>
          <a:xfrm>
            <a:off x="6629400" y="2103120"/>
            <a:ext cx="4754880" cy="320040"/>
          </a:xfrm>
          <a:prstGeom prst="rect">
            <a:avLst/>
          </a:prstGeom>
          <a:noFill/>
        </p:spPr>
        <p:txBody>
          <a:bodyPr wrap="square">
            <a:spAutoFit/>
          </a:bodyPr>
          <a:lstStyle/>
          <a:p>
            <a:pPr algn="l">
              <a:defRPr sz="1300" b="0">
                <a:solidFill>
                  <a:srgbClr val="CBD5E1"/>
                </a:solidFill>
                <a:latin typeface="Calibri"/>
              </a:defRPr>
            </a:pPr>
            <a:r>
              <a:t>• Vehicle investments lack regulatory framework</a:t>
            </a:r>
          </a:p>
        </p:txBody>
      </p:sp>
      <p:sp>
        <p:nvSpPr>
          <p:cNvPr id="13" name="TextBox 12"/>
          <p:cNvSpPr txBox="1"/>
          <p:nvPr/>
        </p:nvSpPr>
        <p:spPr>
          <a:xfrm>
            <a:off x="6629400" y="2395728"/>
            <a:ext cx="4754880" cy="320040"/>
          </a:xfrm>
          <a:prstGeom prst="rect">
            <a:avLst/>
          </a:prstGeom>
          <a:noFill/>
        </p:spPr>
        <p:txBody>
          <a:bodyPr wrap="square">
            <a:spAutoFit/>
          </a:bodyPr>
          <a:lstStyle/>
          <a:p>
            <a:pPr algn="l">
              <a:defRPr sz="1300" b="0">
                <a:solidFill>
                  <a:srgbClr val="CBD5E1"/>
                </a:solidFill>
                <a:latin typeface="Calibri"/>
              </a:defRPr>
            </a:pPr>
            <a:r>
              <a:t>• No automated identity verification</a:t>
            </a:r>
          </a:p>
        </p:txBody>
      </p:sp>
      <p:sp>
        <p:nvSpPr>
          <p:cNvPr id="14" name="TextBox 13"/>
          <p:cNvSpPr txBox="1"/>
          <p:nvPr/>
        </p:nvSpPr>
        <p:spPr>
          <a:xfrm>
            <a:off x="6629400" y="2688336"/>
            <a:ext cx="4754880" cy="320040"/>
          </a:xfrm>
          <a:prstGeom prst="rect">
            <a:avLst/>
          </a:prstGeom>
          <a:noFill/>
        </p:spPr>
        <p:txBody>
          <a:bodyPr wrap="square">
            <a:spAutoFit/>
          </a:bodyPr>
          <a:lstStyle/>
          <a:p>
            <a:pPr algn="l">
              <a:defRPr sz="1300" b="0">
                <a:solidFill>
                  <a:srgbClr val="CBD5E1"/>
                </a:solidFill>
                <a:latin typeface="Calibri"/>
              </a:defRPr>
            </a:pPr>
            <a:r>
              <a:t>• Token transfers without compliance checks</a:t>
            </a:r>
          </a:p>
        </p:txBody>
      </p:sp>
      <p:sp>
        <p:nvSpPr>
          <p:cNvPr id="15" name="Rounded Rectangle 14"/>
          <p:cNvSpPr/>
          <p:nvPr/>
        </p:nvSpPr>
        <p:spPr>
          <a:xfrm>
            <a:off x="731520" y="4114800"/>
            <a:ext cx="5212080" cy="228600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4114800"/>
            <a:ext cx="73152" cy="228600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251960"/>
            <a:ext cx="4846320" cy="365760"/>
          </a:xfrm>
          <a:prstGeom prst="rect">
            <a:avLst/>
          </a:prstGeom>
          <a:noFill/>
        </p:spPr>
        <p:txBody>
          <a:bodyPr wrap="square">
            <a:spAutoFit/>
          </a:bodyPr>
          <a:lstStyle/>
          <a:p>
            <a:pPr algn="l">
              <a:defRPr sz="1600" b="1">
                <a:solidFill>
                  <a:srgbClr val="FFFFFF"/>
                </a:solidFill>
                <a:latin typeface="Calibri"/>
              </a:defRPr>
            </a:pPr>
            <a:r>
              <a:t>Sybil Vulnerability</a:t>
            </a:r>
          </a:p>
        </p:txBody>
      </p:sp>
      <p:sp>
        <p:nvSpPr>
          <p:cNvPr id="18" name="TextBox 17"/>
          <p:cNvSpPr txBox="1"/>
          <p:nvPr/>
        </p:nvSpPr>
        <p:spPr>
          <a:xfrm>
            <a:off x="1051560" y="4663440"/>
            <a:ext cx="4754880" cy="320040"/>
          </a:xfrm>
          <a:prstGeom prst="rect">
            <a:avLst/>
          </a:prstGeom>
          <a:noFill/>
        </p:spPr>
        <p:txBody>
          <a:bodyPr wrap="square">
            <a:spAutoFit/>
          </a:bodyPr>
          <a:lstStyle/>
          <a:p>
            <a:pPr algn="l">
              <a:defRPr sz="1300" b="0">
                <a:solidFill>
                  <a:srgbClr val="CBD5E1"/>
                </a:solidFill>
                <a:latin typeface="Calibri"/>
              </a:defRPr>
            </a:pPr>
            <a:r>
              <a:t>• One person can create multiple investor accounts</a:t>
            </a:r>
          </a:p>
        </p:txBody>
      </p:sp>
      <p:sp>
        <p:nvSpPr>
          <p:cNvPr id="19" name="TextBox 18"/>
          <p:cNvSpPr txBox="1"/>
          <p:nvPr/>
        </p:nvSpPr>
        <p:spPr>
          <a:xfrm>
            <a:off x="1051560" y="4956048"/>
            <a:ext cx="4754880" cy="320040"/>
          </a:xfrm>
          <a:prstGeom prst="rect">
            <a:avLst/>
          </a:prstGeom>
          <a:noFill/>
        </p:spPr>
        <p:txBody>
          <a:bodyPr wrap="square">
            <a:spAutoFit/>
          </a:bodyPr>
          <a:lstStyle/>
          <a:p>
            <a:pPr algn="l">
              <a:defRPr sz="1300" b="0">
                <a:solidFill>
                  <a:srgbClr val="CBD5E1"/>
                </a:solidFill>
                <a:latin typeface="Calibri"/>
              </a:defRPr>
            </a:pPr>
            <a:r>
              <a:t>• No proof-of-personhood verification</a:t>
            </a:r>
          </a:p>
        </p:txBody>
      </p:sp>
      <p:sp>
        <p:nvSpPr>
          <p:cNvPr id="20" name="TextBox 19"/>
          <p:cNvSpPr txBox="1"/>
          <p:nvPr/>
        </p:nvSpPr>
        <p:spPr>
          <a:xfrm>
            <a:off x="1051560" y="5248656"/>
            <a:ext cx="4754880" cy="320040"/>
          </a:xfrm>
          <a:prstGeom prst="rect">
            <a:avLst/>
          </a:prstGeom>
          <a:noFill/>
        </p:spPr>
        <p:txBody>
          <a:bodyPr wrap="square">
            <a:spAutoFit/>
          </a:bodyPr>
          <a:lstStyle/>
          <a:p>
            <a:pPr algn="l">
              <a:defRPr sz="1300" b="0">
                <a:solidFill>
                  <a:srgbClr val="CBD5E1"/>
                </a:solidFill>
                <a:latin typeface="Calibri"/>
              </a:defRPr>
            </a:pPr>
            <a:r>
              <a:t>• Gaming of investment allocations</a:t>
            </a:r>
          </a:p>
        </p:txBody>
      </p:sp>
      <p:sp>
        <p:nvSpPr>
          <p:cNvPr id="21" name="Rounded Rectangle 20"/>
          <p:cNvSpPr/>
          <p:nvPr/>
        </p:nvSpPr>
        <p:spPr>
          <a:xfrm>
            <a:off x="6309360" y="4114800"/>
            <a:ext cx="5212080" cy="228600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09360" y="4114800"/>
            <a:ext cx="73152" cy="228600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0" y="4251960"/>
            <a:ext cx="4846320" cy="365760"/>
          </a:xfrm>
          <a:prstGeom prst="rect">
            <a:avLst/>
          </a:prstGeom>
          <a:noFill/>
        </p:spPr>
        <p:txBody>
          <a:bodyPr wrap="square">
            <a:spAutoFit/>
          </a:bodyPr>
          <a:lstStyle/>
          <a:p>
            <a:pPr algn="l">
              <a:defRPr sz="1600" b="1">
                <a:solidFill>
                  <a:srgbClr val="FFFFFF"/>
                </a:solidFill>
                <a:latin typeface="Calibri"/>
              </a:defRPr>
            </a:pPr>
            <a:r>
              <a:t>Manual Milestone Verification</a:t>
            </a:r>
          </a:p>
        </p:txBody>
      </p:sp>
      <p:sp>
        <p:nvSpPr>
          <p:cNvPr id="24" name="TextBox 23"/>
          <p:cNvSpPr txBox="1"/>
          <p:nvPr/>
        </p:nvSpPr>
        <p:spPr>
          <a:xfrm>
            <a:off x="6629400" y="4663440"/>
            <a:ext cx="4754880" cy="320040"/>
          </a:xfrm>
          <a:prstGeom prst="rect">
            <a:avLst/>
          </a:prstGeom>
          <a:noFill/>
        </p:spPr>
        <p:txBody>
          <a:bodyPr wrap="square">
            <a:spAutoFit/>
          </a:bodyPr>
          <a:lstStyle/>
          <a:p>
            <a:pPr algn="l">
              <a:defRPr sz="1300" b="0">
                <a:solidFill>
                  <a:srgbClr val="CBD5E1"/>
                </a:solidFill>
                <a:latin typeface="Calibri"/>
              </a:defRPr>
            </a:pPr>
            <a:r>
              <a:t>• Admin manually checks VIN, insurance, registration</a:t>
            </a:r>
          </a:p>
        </p:txBody>
      </p:sp>
      <p:sp>
        <p:nvSpPr>
          <p:cNvPr id="25" name="TextBox 24"/>
          <p:cNvSpPr txBox="1"/>
          <p:nvPr/>
        </p:nvSpPr>
        <p:spPr>
          <a:xfrm>
            <a:off x="6629400" y="4956048"/>
            <a:ext cx="4754880" cy="320040"/>
          </a:xfrm>
          <a:prstGeom prst="rect">
            <a:avLst/>
          </a:prstGeom>
          <a:noFill/>
        </p:spPr>
        <p:txBody>
          <a:bodyPr wrap="square">
            <a:spAutoFit/>
          </a:bodyPr>
          <a:lstStyle/>
          <a:p>
            <a:pPr algn="l">
              <a:defRPr sz="1300" b="0">
                <a:solidFill>
                  <a:srgbClr val="CBD5E1"/>
                </a:solidFill>
                <a:latin typeface="Calibri"/>
              </a:defRPr>
            </a:pPr>
            <a:r>
              <a:t>• Escrow funds released without automated verification</a:t>
            </a:r>
          </a:p>
        </p:txBody>
      </p:sp>
      <p:sp>
        <p:nvSpPr>
          <p:cNvPr id="26" name="TextBox 25"/>
          <p:cNvSpPr txBox="1"/>
          <p:nvPr/>
        </p:nvSpPr>
        <p:spPr>
          <a:xfrm>
            <a:off x="6629400" y="5248656"/>
            <a:ext cx="4754880" cy="320040"/>
          </a:xfrm>
          <a:prstGeom prst="rect">
            <a:avLst/>
          </a:prstGeom>
          <a:noFill/>
        </p:spPr>
        <p:txBody>
          <a:bodyPr wrap="square">
            <a:spAutoFit/>
          </a:bodyPr>
          <a:lstStyle/>
          <a:p>
            <a:pPr algn="l">
              <a:defRPr sz="1300" b="0">
                <a:solidFill>
                  <a:srgbClr val="CBD5E1"/>
                </a:solidFill>
                <a:latin typeface="Calibri"/>
              </a:defRPr>
            </a:pPr>
            <a:r>
              <a:t>• No real-time vehicle telemetry monitoring</a:t>
            </a:r>
          </a:p>
        </p:txBody>
      </p:sp>
      <p:sp>
        <p:nvSpPr>
          <p:cNvPr id="27" name="TextBox 26"/>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Our Solution: RegShield</a:t>
            </a:r>
          </a:p>
        </p:txBody>
      </p:sp>
      <p:sp>
        <p:nvSpPr>
          <p:cNvPr id="3" name="TextBox 2"/>
          <p:cNvSpPr txBox="1"/>
          <p:nvPr/>
        </p:nvSpPr>
        <p:spPr>
          <a:xfrm>
            <a:off x="731520" y="1188720"/>
            <a:ext cx="10058400" cy="548640"/>
          </a:xfrm>
          <a:prstGeom prst="rect">
            <a:avLst/>
          </a:prstGeom>
          <a:noFill/>
        </p:spPr>
        <p:txBody>
          <a:bodyPr wrap="square">
            <a:spAutoFit/>
          </a:bodyPr>
          <a:lstStyle/>
          <a:p>
            <a:pPr algn="l">
              <a:defRPr sz="1600" b="0">
                <a:solidFill>
                  <a:srgbClr val="94A3B8"/>
                </a:solidFill>
                <a:latin typeface="Calibri"/>
              </a:defRPr>
            </a:pPr>
            <a:r>
              <a:t>A fully on-chain compliant vehicle investment platform with decentralized automation</a:t>
            </a:r>
          </a:p>
        </p:txBody>
      </p:sp>
      <p:sp>
        <p:nvSpPr>
          <p:cNvPr id="4" name="Rounded Rectangle 3"/>
          <p:cNvSpPr/>
          <p:nvPr/>
        </p:nvSpPr>
        <p:spPr>
          <a:xfrm>
            <a:off x="548640" y="2011680"/>
            <a:ext cx="3566160" cy="38404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2011680"/>
            <a:ext cx="73152" cy="3840480"/>
          </a:xfrm>
          <a:prstGeom prst="rect">
            <a:avLst/>
          </a:prstGeom>
          <a:solidFill>
            <a:srgbClr val="375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148840"/>
            <a:ext cx="3200400" cy="365760"/>
          </a:xfrm>
          <a:prstGeom prst="rect">
            <a:avLst/>
          </a:prstGeom>
          <a:noFill/>
        </p:spPr>
        <p:txBody>
          <a:bodyPr wrap="square">
            <a:spAutoFit/>
          </a:bodyPr>
          <a:lstStyle/>
          <a:p>
            <a:pPr algn="l">
              <a:defRPr sz="2000" b="1">
                <a:solidFill>
                  <a:srgbClr val="FFFFFF"/>
                </a:solidFill>
                <a:latin typeface="Calibri"/>
              </a:defRPr>
            </a:pPr>
            <a:r>
              <a:t>Chainlink CRE</a:t>
            </a:r>
          </a:p>
        </p:txBody>
      </p:sp>
      <p:sp>
        <p:nvSpPr>
          <p:cNvPr id="7" name="TextBox 6"/>
          <p:cNvSpPr txBox="1"/>
          <p:nvPr/>
        </p:nvSpPr>
        <p:spPr>
          <a:xfrm>
            <a:off x="868680" y="2560320"/>
            <a:ext cx="3108960" cy="320040"/>
          </a:xfrm>
          <a:prstGeom prst="rect">
            <a:avLst/>
          </a:prstGeom>
          <a:noFill/>
        </p:spPr>
        <p:txBody>
          <a:bodyPr wrap="square">
            <a:spAutoFit/>
          </a:bodyPr>
          <a:lstStyle/>
          <a:p>
            <a:pPr algn="l">
              <a:defRPr sz="1400" b="0">
                <a:solidFill>
                  <a:srgbClr val="CBD5E1"/>
                </a:solidFill>
                <a:latin typeface="Calibri"/>
              </a:defRPr>
            </a:pPr>
            <a:r>
              <a:t>• 5 off-chain workflows replace backend cron jobs</a:t>
            </a:r>
          </a:p>
        </p:txBody>
      </p:sp>
      <p:sp>
        <p:nvSpPr>
          <p:cNvPr id="8" name="TextBox 7"/>
          <p:cNvSpPr txBox="1"/>
          <p:nvPr/>
        </p:nvSpPr>
        <p:spPr>
          <a:xfrm>
            <a:off x="868680" y="3114188"/>
            <a:ext cx="3108960" cy="320040"/>
          </a:xfrm>
          <a:prstGeom prst="rect">
            <a:avLst/>
          </a:prstGeom>
          <a:noFill/>
        </p:spPr>
        <p:txBody>
          <a:bodyPr wrap="square">
            <a:spAutoFit/>
          </a:bodyPr>
          <a:lstStyle/>
          <a:p>
            <a:pPr algn="l">
              <a:defRPr sz="1400" b="0">
                <a:solidFill>
                  <a:srgbClr val="CBD5E1"/>
                </a:solidFill>
                <a:latin typeface="Calibri"/>
              </a:defRPr>
            </a:pPr>
            <a:r>
              <a:rPr dirty="0"/>
              <a:t>• Automated VIN validation via NHTSA API</a:t>
            </a:r>
          </a:p>
        </p:txBody>
      </p:sp>
      <p:sp>
        <p:nvSpPr>
          <p:cNvPr id="9" name="TextBox 8"/>
          <p:cNvSpPr txBox="1"/>
          <p:nvPr/>
        </p:nvSpPr>
        <p:spPr>
          <a:xfrm>
            <a:off x="868680" y="3628866"/>
            <a:ext cx="3108960" cy="320040"/>
          </a:xfrm>
          <a:prstGeom prst="rect">
            <a:avLst/>
          </a:prstGeom>
          <a:noFill/>
        </p:spPr>
        <p:txBody>
          <a:bodyPr wrap="square">
            <a:spAutoFit/>
          </a:bodyPr>
          <a:lstStyle/>
          <a:p>
            <a:pPr algn="l">
              <a:defRPr sz="1400" b="0">
                <a:solidFill>
                  <a:srgbClr val="CBD5E1"/>
                </a:solidFill>
                <a:latin typeface="Calibri"/>
              </a:defRPr>
            </a:pPr>
            <a:r>
              <a:rPr dirty="0"/>
              <a:t>• Milestone-based escrow verification</a:t>
            </a:r>
          </a:p>
        </p:txBody>
      </p:sp>
      <p:sp>
        <p:nvSpPr>
          <p:cNvPr id="10" name="TextBox 9"/>
          <p:cNvSpPr txBox="1"/>
          <p:nvPr/>
        </p:nvSpPr>
        <p:spPr>
          <a:xfrm>
            <a:off x="868680" y="3986788"/>
            <a:ext cx="3108960" cy="320040"/>
          </a:xfrm>
          <a:prstGeom prst="rect">
            <a:avLst/>
          </a:prstGeom>
          <a:noFill/>
        </p:spPr>
        <p:txBody>
          <a:bodyPr wrap="square">
            <a:spAutoFit/>
          </a:bodyPr>
          <a:lstStyle/>
          <a:p>
            <a:pPr algn="l">
              <a:defRPr sz="1400" b="0">
                <a:solidFill>
                  <a:srgbClr val="CBD5E1"/>
                </a:solidFill>
                <a:latin typeface="Calibri"/>
              </a:defRPr>
            </a:pPr>
            <a:r>
              <a:rPr dirty="0"/>
              <a:t>• Vehicle telematics &amp; compliance monitoring</a:t>
            </a:r>
          </a:p>
        </p:txBody>
      </p:sp>
      <p:sp>
        <p:nvSpPr>
          <p:cNvPr id="11" name="Rounded Rectangle 10"/>
          <p:cNvSpPr/>
          <p:nvPr/>
        </p:nvSpPr>
        <p:spPr>
          <a:xfrm>
            <a:off x="4389120" y="2011680"/>
            <a:ext cx="3566160" cy="38404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2011680"/>
            <a:ext cx="73152" cy="384048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63440" y="2148840"/>
            <a:ext cx="3200400" cy="365760"/>
          </a:xfrm>
          <a:prstGeom prst="rect">
            <a:avLst/>
          </a:prstGeom>
          <a:noFill/>
        </p:spPr>
        <p:txBody>
          <a:bodyPr wrap="square">
            <a:spAutoFit/>
          </a:bodyPr>
          <a:lstStyle/>
          <a:p>
            <a:pPr algn="l">
              <a:defRPr sz="2000" b="1">
                <a:solidFill>
                  <a:srgbClr val="FFFFFF"/>
                </a:solidFill>
                <a:latin typeface="Calibri"/>
              </a:defRPr>
            </a:pPr>
            <a:r>
              <a:t>WorldID</a:t>
            </a:r>
          </a:p>
        </p:txBody>
      </p:sp>
      <p:sp>
        <p:nvSpPr>
          <p:cNvPr id="14" name="TextBox 13"/>
          <p:cNvSpPr txBox="1"/>
          <p:nvPr/>
        </p:nvSpPr>
        <p:spPr>
          <a:xfrm>
            <a:off x="4709160" y="2560320"/>
            <a:ext cx="3108960" cy="320040"/>
          </a:xfrm>
          <a:prstGeom prst="rect">
            <a:avLst/>
          </a:prstGeom>
          <a:noFill/>
        </p:spPr>
        <p:txBody>
          <a:bodyPr wrap="square">
            <a:spAutoFit/>
          </a:bodyPr>
          <a:lstStyle/>
          <a:p>
            <a:pPr algn="l">
              <a:defRPr sz="1400" b="0">
                <a:solidFill>
                  <a:srgbClr val="CBD5E1"/>
                </a:solidFill>
                <a:latin typeface="Calibri"/>
              </a:defRPr>
            </a:pPr>
            <a:r>
              <a:t>• Proof-of-personhood for investor onboarding</a:t>
            </a:r>
          </a:p>
        </p:txBody>
      </p:sp>
      <p:sp>
        <p:nvSpPr>
          <p:cNvPr id="15" name="TextBox 14"/>
          <p:cNvSpPr txBox="1"/>
          <p:nvPr/>
        </p:nvSpPr>
        <p:spPr>
          <a:xfrm>
            <a:off x="4709160" y="3114188"/>
            <a:ext cx="3108960" cy="320040"/>
          </a:xfrm>
          <a:prstGeom prst="rect">
            <a:avLst/>
          </a:prstGeom>
          <a:noFill/>
        </p:spPr>
        <p:txBody>
          <a:bodyPr wrap="square">
            <a:spAutoFit/>
          </a:bodyPr>
          <a:lstStyle/>
          <a:p>
            <a:pPr algn="l">
              <a:defRPr sz="1400" b="0">
                <a:solidFill>
                  <a:srgbClr val="CBD5E1"/>
                </a:solidFill>
                <a:latin typeface="Calibri"/>
              </a:defRPr>
            </a:pPr>
            <a:r>
              <a:rPr dirty="0"/>
              <a:t>• Orb-level ZK verification — sybil resistant</a:t>
            </a:r>
          </a:p>
        </p:txBody>
      </p:sp>
      <p:sp>
        <p:nvSpPr>
          <p:cNvPr id="16" name="TextBox 15"/>
          <p:cNvSpPr txBox="1"/>
          <p:nvPr/>
        </p:nvSpPr>
        <p:spPr>
          <a:xfrm>
            <a:off x="4709160" y="3602739"/>
            <a:ext cx="3108960" cy="320040"/>
          </a:xfrm>
          <a:prstGeom prst="rect">
            <a:avLst/>
          </a:prstGeom>
          <a:noFill/>
        </p:spPr>
        <p:txBody>
          <a:bodyPr wrap="square">
            <a:spAutoFit/>
          </a:bodyPr>
          <a:lstStyle/>
          <a:p>
            <a:pPr algn="l">
              <a:defRPr sz="1400" b="0">
                <a:solidFill>
                  <a:srgbClr val="CBD5E1"/>
                </a:solidFill>
                <a:latin typeface="Calibri"/>
              </a:defRPr>
            </a:pPr>
            <a:r>
              <a:rPr dirty="0"/>
              <a:t>• On-chain via </a:t>
            </a:r>
            <a:r>
              <a:rPr dirty="0" err="1"/>
              <a:t>WorldIDVerifier</a:t>
            </a:r>
            <a:r>
              <a:rPr dirty="0"/>
              <a:t> contract</a:t>
            </a:r>
          </a:p>
        </p:txBody>
      </p:sp>
      <p:sp>
        <p:nvSpPr>
          <p:cNvPr id="17" name="TextBox 16"/>
          <p:cNvSpPr txBox="1"/>
          <p:nvPr/>
        </p:nvSpPr>
        <p:spPr>
          <a:xfrm>
            <a:off x="4709160" y="3960662"/>
            <a:ext cx="3108960" cy="320040"/>
          </a:xfrm>
          <a:prstGeom prst="rect">
            <a:avLst/>
          </a:prstGeom>
          <a:noFill/>
        </p:spPr>
        <p:txBody>
          <a:bodyPr wrap="square">
            <a:spAutoFit/>
          </a:bodyPr>
          <a:lstStyle/>
          <a:p>
            <a:pPr algn="l">
              <a:defRPr sz="1400" b="0">
                <a:solidFill>
                  <a:srgbClr val="CBD5E1"/>
                </a:solidFill>
                <a:latin typeface="Calibri"/>
              </a:defRPr>
            </a:pPr>
            <a:r>
              <a:rPr dirty="0"/>
              <a:t>• One human = one verified investor account</a:t>
            </a:r>
          </a:p>
        </p:txBody>
      </p:sp>
      <p:sp>
        <p:nvSpPr>
          <p:cNvPr id="18" name="Rounded Rectangle 17"/>
          <p:cNvSpPr/>
          <p:nvPr/>
        </p:nvSpPr>
        <p:spPr>
          <a:xfrm>
            <a:off x="8229600" y="2011680"/>
            <a:ext cx="3566160" cy="38404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0" y="2011680"/>
            <a:ext cx="73152" cy="3840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03920" y="2148840"/>
            <a:ext cx="3200400" cy="365760"/>
          </a:xfrm>
          <a:prstGeom prst="rect">
            <a:avLst/>
          </a:prstGeom>
          <a:noFill/>
        </p:spPr>
        <p:txBody>
          <a:bodyPr wrap="square">
            <a:spAutoFit/>
          </a:bodyPr>
          <a:lstStyle/>
          <a:p>
            <a:pPr algn="l">
              <a:defRPr sz="2000" b="1">
                <a:solidFill>
                  <a:srgbClr val="FFFFFF"/>
                </a:solidFill>
                <a:latin typeface="Calibri"/>
              </a:defRPr>
            </a:pPr>
            <a:r>
              <a:t>ERC-3643 Tokens</a:t>
            </a:r>
          </a:p>
        </p:txBody>
      </p:sp>
      <p:sp>
        <p:nvSpPr>
          <p:cNvPr id="21" name="TextBox 20"/>
          <p:cNvSpPr txBox="1"/>
          <p:nvPr/>
        </p:nvSpPr>
        <p:spPr>
          <a:xfrm>
            <a:off x="8549640" y="2560320"/>
            <a:ext cx="3108960" cy="320040"/>
          </a:xfrm>
          <a:prstGeom prst="rect">
            <a:avLst/>
          </a:prstGeom>
          <a:noFill/>
        </p:spPr>
        <p:txBody>
          <a:bodyPr wrap="square">
            <a:spAutoFit/>
          </a:bodyPr>
          <a:lstStyle/>
          <a:p>
            <a:pPr algn="l">
              <a:defRPr sz="1400" b="0">
                <a:solidFill>
                  <a:srgbClr val="CBD5E1"/>
                </a:solidFill>
                <a:latin typeface="Calibri"/>
              </a:defRPr>
            </a:pPr>
            <a:r>
              <a:t>• AssetToken — fractional vehicle ownership</a:t>
            </a:r>
          </a:p>
        </p:txBody>
      </p:sp>
      <p:sp>
        <p:nvSpPr>
          <p:cNvPr id="22" name="TextBox 21"/>
          <p:cNvSpPr txBox="1"/>
          <p:nvPr/>
        </p:nvSpPr>
        <p:spPr>
          <a:xfrm>
            <a:off x="8549640" y="3127250"/>
            <a:ext cx="3108960" cy="320040"/>
          </a:xfrm>
          <a:prstGeom prst="rect">
            <a:avLst/>
          </a:prstGeom>
          <a:noFill/>
        </p:spPr>
        <p:txBody>
          <a:bodyPr wrap="square">
            <a:spAutoFit/>
          </a:bodyPr>
          <a:lstStyle/>
          <a:p>
            <a:pPr algn="l">
              <a:defRPr sz="1400" b="0">
                <a:solidFill>
                  <a:srgbClr val="CBD5E1"/>
                </a:solidFill>
                <a:latin typeface="Calibri"/>
              </a:defRPr>
            </a:pPr>
            <a:r>
              <a:rPr dirty="0"/>
              <a:t>• </a:t>
            </a:r>
            <a:r>
              <a:rPr dirty="0" err="1"/>
              <a:t>RevenueToken</a:t>
            </a:r>
            <a:r>
              <a:rPr dirty="0"/>
              <a:t> — quarterly rental income rights</a:t>
            </a:r>
          </a:p>
        </p:txBody>
      </p:sp>
      <p:sp>
        <p:nvSpPr>
          <p:cNvPr id="23" name="TextBox 22"/>
          <p:cNvSpPr txBox="1"/>
          <p:nvPr/>
        </p:nvSpPr>
        <p:spPr>
          <a:xfrm>
            <a:off x="8549640" y="3615800"/>
            <a:ext cx="3108960" cy="320040"/>
          </a:xfrm>
          <a:prstGeom prst="rect">
            <a:avLst/>
          </a:prstGeom>
          <a:noFill/>
        </p:spPr>
        <p:txBody>
          <a:bodyPr wrap="square">
            <a:spAutoFit/>
          </a:bodyPr>
          <a:lstStyle/>
          <a:p>
            <a:pPr algn="l">
              <a:defRPr sz="1400" b="0">
                <a:solidFill>
                  <a:srgbClr val="CBD5E1"/>
                </a:solidFill>
                <a:latin typeface="Calibri"/>
              </a:defRPr>
            </a:pPr>
            <a:r>
              <a:rPr dirty="0"/>
              <a:t>• Identity Registry enforces compliance</a:t>
            </a:r>
          </a:p>
        </p:txBody>
      </p:sp>
      <p:sp>
        <p:nvSpPr>
          <p:cNvPr id="24" name="TextBox 23"/>
          <p:cNvSpPr txBox="1"/>
          <p:nvPr/>
        </p:nvSpPr>
        <p:spPr>
          <a:xfrm>
            <a:off x="8549640" y="3947597"/>
            <a:ext cx="3108960" cy="320040"/>
          </a:xfrm>
          <a:prstGeom prst="rect">
            <a:avLst/>
          </a:prstGeom>
          <a:noFill/>
        </p:spPr>
        <p:txBody>
          <a:bodyPr wrap="square">
            <a:spAutoFit/>
          </a:bodyPr>
          <a:lstStyle/>
          <a:p>
            <a:pPr algn="l">
              <a:defRPr sz="1400" b="0">
                <a:solidFill>
                  <a:srgbClr val="CBD5E1"/>
                </a:solidFill>
                <a:latin typeface="Calibri"/>
              </a:defRPr>
            </a:pPr>
            <a:r>
              <a:rPr dirty="0"/>
              <a:t>• Transfer restrictions by investor type &amp; KYC</a:t>
            </a:r>
          </a:p>
        </p:txBody>
      </p:sp>
      <p:sp>
        <p:nvSpPr>
          <p:cNvPr id="25" name="TextBox 24"/>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How It Works</a:t>
            </a:r>
          </a:p>
        </p:txBody>
      </p:sp>
      <p:sp>
        <p:nvSpPr>
          <p:cNvPr id="3" name="Oval 2"/>
          <p:cNvSpPr/>
          <p:nvPr/>
        </p:nvSpPr>
        <p:spPr>
          <a:xfrm>
            <a:off x="1463040" y="1645920"/>
            <a:ext cx="731520" cy="73152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400"/>
              </a:spcBef>
              <a:defRPr sz="2800" b="1">
                <a:solidFill>
                  <a:srgbClr val="FFFFFF"/>
                </a:solidFill>
              </a:defRPr>
            </a:pPr>
            <a:r>
              <a:t>1</a:t>
            </a:r>
          </a:p>
        </p:txBody>
      </p:sp>
      <p:sp>
        <p:nvSpPr>
          <p:cNvPr id="4" name="Right Arrow 3"/>
          <p:cNvSpPr/>
          <p:nvPr/>
        </p:nvSpPr>
        <p:spPr>
          <a:xfrm>
            <a:off x="2926080" y="1828800"/>
            <a:ext cx="640080" cy="320040"/>
          </a:xfrm>
          <a:prstGeom prst="rightArrow">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651760"/>
            <a:ext cx="2743200" cy="457200"/>
          </a:xfrm>
          <a:prstGeom prst="rect">
            <a:avLst/>
          </a:prstGeom>
          <a:noFill/>
        </p:spPr>
        <p:txBody>
          <a:bodyPr wrap="square">
            <a:spAutoFit/>
          </a:bodyPr>
          <a:lstStyle/>
          <a:p>
            <a:pPr algn="ctr">
              <a:defRPr sz="2000" b="1">
                <a:solidFill>
                  <a:srgbClr val="3B82F6"/>
                </a:solidFill>
                <a:latin typeface="Calibri"/>
              </a:defRPr>
            </a:pPr>
            <a:r>
              <a:t>Invest</a:t>
            </a:r>
          </a:p>
        </p:txBody>
      </p:sp>
      <p:sp>
        <p:nvSpPr>
          <p:cNvPr id="6" name="TextBox 5"/>
          <p:cNvSpPr txBox="1"/>
          <p:nvPr/>
        </p:nvSpPr>
        <p:spPr>
          <a:xfrm>
            <a:off x="457200" y="3108960"/>
            <a:ext cx="2743200" cy="1371600"/>
          </a:xfrm>
          <a:prstGeom prst="rect">
            <a:avLst/>
          </a:prstGeom>
          <a:noFill/>
        </p:spPr>
        <p:txBody>
          <a:bodyPr wrap="square">
            <a:spAutoFit/>
          </a:bodyPr>
          <a:lstStyle/>
          <a:p>
            <a:pPr algn="ctr">
              <a:defRPr sz="1300" b="0">
                <a:solidFill>
                  <a:srgbClr val="CBD5E1"/>
                </a:solidFill>
                <a:latin typeface="Calibri"/>
              </a:defRPr>
            </a:pPr>
            <a:r>
              <a:t>Investor selects a vehicle</a:t>
            </a:r>
            <a:br/>
            <a:r>
              <a:t>campaign and commits ETH.</a:t>
            </a:r>
            <a:br/>
            <a:r>
              <a:t>Funds locked in PaymentEscrow.</a:t>
            </a:r>
          </a:p>
        </p:txBody>
      </p:sp>
      <p:sp>
        <p:nvSpPr>
          <p:cNvPr id="7" name="Oval 6"/>
          <p:cNvSpPr/>
          <p:nvPr/>
        </p:nvSpPr>
        <p:spPr>
          <a:xfrm>
            <a:off x="4389120" y="1645920"/>
            <a:ext cx="731520" cy="731520"/>
          </a:xfrm>
          <a:prstGeom prst="ellipse">
            <a:avLst/>
          </a:prstGeom>
          <a:solidFill>
            <a:srgbClr val="375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400"/>
              </a:spcBef>
              <a:defRPr sz="2800" b="1">
                <a:solidFill>
                  <a:srgbClr val="FFFFFF"/>
                </a:solidFill>
              </a:defRPr>
            </a:pPr>
            <a:r>
              <a:t>2</a:t>
            </a:r>
          </a:p>
        </p:txBody>
      </p:sp>
      <p:sp>
        <p:nvSpPr>
          <p:cNvPr id="8" name="Right Arrow 7"/>
          <p:cNvSpPr/>
          <p:nvPr/>
        </p:nvSpPr>
        <p:spPr>
          <a:xfrm>
            <a:off x="5852160" y="1828800"/>
            <a:ext cx="640080" cy="320040"/>
          </a:xfrm>
          <a:prstGeom prst="rightArrow">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83280" y="2651760"/>
            <a:ext cx="2743200" cy="457200"/>
          </a:xfrm>
          <a:prstGeom prst="rect">
            <a:avLst/>
          </a:prstGeom>
          <a:noFill/>
        </p:spPr>
        <p:txBody>
          <a:bodyPr wrap="square">
            <a:spAutoFit/>
          </a:bodyPr>
          <a:lstStyle/>
          <a:p>
            <a:pPr algn="ctr">
              <a:defRPr sz="2000" b="1">
                <a:solidFill>
                  <a:srgbClr val="375BD2"/>
                </a:solidFill>
                <a:latin typeface="Calibri"/>
              </a:defRPr>
            </a:pPr>
            <a:r>
              <a:t>CRE Verifies</a:t>
            </a:r>
          </a:p>
        </p:txBody>
      </p:sp>
      <p:sp>
        <p:nvSpPr>
          <p:cNvPr id="10" name="TextBox 9"/>
          <p:cNvSpPr txBox="1"/>
          <p:nvPr/>
        </p:nvSpPr>
        <p:spPr>
          <a:xfrm>
            <a:off x="3383280" y="3108960"/>
            <a:ext cx="2743200" cy="1371600"/>
          </a:xfrm>
          <a:prstGeom prst="rect">
            <a:avLst/>
          </a:prstGeom>
          <a:noFill/>
        </p:spPr>
        <p:txBody>
          <a:bodyPr wrap="square">
            <a:spAutoFit/>
          </a:bodyPr>
          <a:lstStyle/>
          <a:p>
            <a:pPr algn="ctr">
              <a:defRPr sz="1300" b="0">
                <a:solidFill>
                  <a:srgbClr val="CBD5E1"/>
                </a:solidFill>
                <a:latin typeface="Calibri"/>
              </a:defRPr>
            </a:pPr>
            <a:r>
              <a:t>Chainlink CRE auto-verifies</a:t>
            </a:r>
            <a:br/>
            <a:r>
              <a:t>4 milestones: VIN, purchase,</a:t>
            </a:r>
            <a:br/>
            <a:r>
              <a:t>insurance, registration.</a:t>
            </a:r>
          </a:p>
        </p:txBody>
      </p:sp>
      <p:sp>
        <p:nvSpPr>
          <p:cNvPr id="11" name="Oval 10"/>
          <p:cNvSpPr/>
          <p:nvPr/>
        </p:nvSpPr>
        <p:spPr>
          <a:xfrm>
            <a:off x="7315200" y="1645920"/>
            <a:ext cx="731520" cy="73152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400"/>
              </a:spcBef>
              <a:defRPr sz="2800" b="1">
                <a:solidFill>
                  <a:srgbClr val="FFFFFF"/>
                </a:solidFill>
              </a:defRPr>
            </a:pPr>
            <a:r>
              <a:t>3</a:t>
            </a:r>
          </a:p>
        </p:txBody>
      </p:sp>
      <p:sp>
        <p:nvSpPr>
          <p:cNvPr id="12" name="Right Arrow 11"/>
          <p:cNvSpPr/>
          <p:nvPr/>
        </p:nvSpPr>
        <p:spPr>
          <a:xfrm>
            <a:off x="8778240" y="1828800"/>
            <a:ext cx="640080" cy="320040"/>
          </a:xfrm>
          <a:prstGeom prst="rightArrow">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09360" y="2651760"/>
            <a:ext cx="2743200" cy="457200"/>
          </a:xfrm>
          <a:prstGeom prst="rect">
            <a:avLst/>
          </a:prstGeom>
          <a:noFill/>
        </p:spPr>
        <p:txBody>
          <a:bodyPr wrap="square">
            <a:spAutoFit/>
          </a:bodyPr>
          <a:lstStyle/>
          <a:p>
            <a:pPr algn="ctr">
              <a:defRPr sz="2000" b="1">
                <a:solidFill>
                  <a:srgbClr val="22C55E"/>
                </a:solidFill>
                <a:latin typeface="Calibri"/>
              </a:defRPr>
            </a:pPr>
            <a:r>
              <a:t>Tokens Minted</a:t>
            </a:r>
          </a:p>
        </p:txBody>
      </p:sp>
      <p:sp>
        <p:nvSpPr>
          <p:cNvPr id="14" name="TextBox 13"/>
          <p:cNvSpPr txBox="1"/>
          <p:nvPr/>
        </p:nvSpPr>
        <p:spPr>
          <a:xfrm>
            <a:off x="6309360" y="3108960"/>
            <a:ext cx="2743200" cy="1371600"/>
          </a:xfrm>
          <a:prstGeom prst="rect">
            <a:avLst/>
          </a:prstGeom>
          <a:noFill/>
        </p:spPr>
        <p:txBody>
          <a:bodyPr wrap="square">
            <a:spAutoFit/>
          </a:bodyPr>
          <a:lstStyle/>
          <a:p>
            <a:pPr algn="ctr">
              <a:defRPr sz="1300" b="0">
                <a:solidFill>
                  <a:srgbClr val="CBD5E1"/>
                </a:solidFill>
                <a:latin typeface="Calibri"/>
              </a:defRPr>
            </a:pPr>
            <a:r>
              <a:t>ERC-3643 AssetTokens &amp;</a:t>
            </a:r>
            <a:br/>
            <a:r>
              <a:t>RevenueTokens minted</a:t>
            </a:r>
            <a:br/>
            <a:r>
              <a:t>to verified investors.</a:t>
            </a:r>
          </a:p>
        </p:txBody>
      </p:sp>
      <p:sp>
        <p:nvSpPr>
          <p:cNvPr id="15" name="Oval 14"/>
          <p:cNvSpPr/>
          <p:nvPr/>
        </p:nvSpPr>
        <p:spPr>
          <a:xfrm>
            <a:off x="10241280" y="1645920"/>
            <a:ext cx="731520" cy="73152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400"/>
              </a:spcBef>
              <a:defRPr sz="2800" b="1">
                <a:solidFill>
                  <a:srgbClr val="FFFFFF"/>
                </a:solidFill>
              </a:defRPr>
            </a:pPr>
            <a:r>
              <a:t>4</a:t>
            </a:r>
          </a:p>
        </p:txBody>
      </p:sp>
      <p:sp>
        <p:nvSpPr>
          <p:cNvPr id="16" name="TextBox 15"/>
          <p:cNvSpPr txBox="1"/>
          <p:nvPr/>
        </p:nvSpPr>
        <p:spPr>
          <a:xfrm>
            <a:off x="9235440" y="2651760"/>
            <a:ext cx="2743200" cy="457200"/>
          </a:xfrm>
          <a:prstGeom prst="rect">
            <a:avLst/>
          </a:prstGeom>
          <a:noFill/>
        </p:spPr>
        <p:txBody>
          <a:bodyPr wrap="square">
            <a:spAutoFit/>
          </a:bodyPr>
          <a:lstStyle/>
          <a:p>
            <a:pPr algn="ctr">
              <a:defRPr sz="2000" b="1">
                <a:solidFill>
                  <a:srgbClr val="F97316"/>
                </a:solidFill>
                <a:latin typeface="Calibri"/>
              </a:defRPr>
            </a:pPr>
            <a:r>
              <a:t>Earn Revenue</a:t>
            </a:r>
          </a:p>
        </p:txBody>
      </p:sp>
      <p:sp>
        <p:nvSpPr>
          <p:cNvPr id="17" name="TextBox 16"/>
          <p:cNvSpPr txBox="1"/>
          <p:nvPr/>
        </p:nvSpPr>
        <p:spPr>
          <a:xfrm>
            <a:off x="9235440" y="3108960"/>
            <a:ext cx="2743200" cy="1371600"/>
          </a:xfrm>
          <a:prstGeom prst="rect">
            <a:avLst/>
          </a:prstGeom>
          <a:noFill/>
        </p:spPr>
        <p:txBody>
          <a:bodyPr wrap="square">
            <a:spAutoFit/>
          </a:bodyPr>
          <a:lstStyle/>
          <a:p>
            <a:pPr algn="ctr">
              <a:defRPr sz="1300" b="0">
                <a:solidFill>
                  <a:srgbClr val="CBD5E1"/>
                </a:solidFill>
                <a:latin typeface="Calibri"/>
              </a:defRPr>
            </a:pPr>
            <a:r>
              <a:t>Vehicle generates rental</a:t>
            </a:r>
            <a:br/>
            <a:r>
              <a:t>income. Quarterly waterfall:</a:t>
            </a:r>
            <a:br/>
            <a:r>
              <a:t>50% investors, 10% operator.</a:t>
            </a:r>
          </a:p>
        </p:txBody>
      </p:sp>
      <p:sp>
        <p:nvSpPr>
          <p:cNvPr id="18" name="Rounded Rectangle 17"/>
          <p:cNvSpPr/>
          <p:nvPr/>
        </p:nvSpPr>
        <p:spPr>
          <a:xfrm>
            <a:off x="914400" y="5029200"/>
            <a:ext cx="10332720" cy="1097280"/>
          </a:xfrm>
          <a:prstGeom prst="roundRect">
            <a:avLst>
              <a:gd name="adj" fmla="val 3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5120640"/>
            <a:ext cx="9784080" cy="365760"/>
          </a:xfrm>
          <a:prstGeom prst="rect">
            <a:avLst/>
          </a:prstGeom>
          <a:noFill/>
        </p:spPr>
        <p:txBody>
          <a:bodyPr wrap="square">
            <a:spAutoFit/>
          </a:bodyPr>
          <a:lstStyle/>
          <a:p>
            <a:pPr algn="ctr">
              <a:defRPr sz="1600" b="1">
                <a:solidFill>
                  <a:srgbClr val="375BD2"/>
                </a:solidFill>
                <a:latin typeface="Calibri"/>
              </a:defRPr>
            </a:pPr>
            <a:r>
              <a:t>Chainlink CRE replaces 4 centralized backend services + adds 1 new capability</a:t>
            </a:r>
          </a:p>
        </p:txBody>
      </p:sp>
      <p:sp>
        <p:nvSpPr>
          <p:cNvPr id="20" name="TextBox 19"/>
          <p:cNvSpPr txBox="1"/>
          <p:nvPr/>
        </p:nvSpPr>
        <p:spPr>
          <a:xfrm>
            <a:off x="1188720" y="5486400"/>
            <a:ext cx="9784080" cy="457200"/>
          </a:xfrm>
          <a:prstGeom prst="rect">
            <a:avLst/>
          </a:prstGeom>
          <a:noFill/>
        </p:spPr>
        <p:txBody>
          <a:bodyPr wrap="square">
            <a:spAutoFit/>
          </a:bodyPr>
          <a:lstStyle/>
          <a:p>
            <a:pPr algn="ctr">
              <a:defRPr sz="1400" b="0">
                <a:solidFill>
                  <a:srgbClr val="94A3B8"/>
                </a:solidFill>
                <a:latin typeface="Calibri"/>
              </a:defRPr>
            </a:pPr>
            <a:r>
              <a:t>Onboarding  |  Campaign Monitor  |  Rental Lifecycle  |  Vehicle Telematics  |  Compliance Monitor</a:t>
            </a:r>
          </a:p>
        </p:txBody>
      </p:sp>
      <p:sp>
        <p:nvSpPr>
          <p:cNvPr id="21" name="TextBox 20"/>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375BD2"/>
                </a:solidFill>
                <a:latin typeface="Calibri"/>
              </a:defRPr>
            </a:pPr>
            <a:r>
              <a:t>Chainlink CRE Integration</a:t>
            </a:r>
          </a:p>
        </p:txBody>
      </p:sp>
      <p:sp>
        <p:nvSpPr>
          <p:cNvPr id="3" name="TextBox 2"/>
          <p:cNvSpPr txBox="1"/>
          <p:nvPr/>
        </p:nvSpPr>
        <p:spPr>
          <a:xfrm>
            <a:off x="731520" y="1097280"/>
            <a:ext cx="10058400" cy="457200"/>
          </a:xfrm>
          <a:prstGeom prst="rect">
            <a:avLst/>
          </a:prstGeom>
          <a:noFill/>
        </p:spPr>
        <p:txBody>
          <a:bodyPr wrap="square">
            <a:spAutoFit/>
          </a:bodyPr>
          <a:lstStyle/>
          <a:p>
            <a:pPr algn="l">
              <a:defRPr sz="1600" b="0">
                <a:solidFill>
                  <a:srgbClr val="94A3B8"/>
                </a:solidFill>
                <a:latin typeface="Calibri"/>
              </a:defRPr>
            </a:pPr>
            <a:r>
              <a:t>5 Decentralized Workflows Replace Centralized Backend Cron Jobs</a:t>
            </a:r>
          </a:p>
        </p:txBody>
      </p:sp>
      <p:sp>
        <p:nvSpPr>
          <p:cNvPr id="4" name="Rounded Rectangle 3"/>
          <p:cNvSpPr/>
          <p:nvPr/>
        </p:nvSpPr>
        <p:spPr>
          <a:xfrm>
            <a:off x="548640" y="1737360"/>
            <a:ext cx="11064240" cy="457200"/>
          </a:xfrm>
          <a:prstGeom prst="roundRect">
            <a:avLst>
              <a:gd name="adj" fmla="val 2000"/>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83080"/>
            <a:ext cx="2011680" cy="365760"/>
          </a:xfrm>
          <a:prstGeom prst="rect">
            <a:avLst/>
          </a:prstGeom>
          <a:noFill/>
        </p:spPr>
        <p:txBody>
          <a:bodyPr wrap="square">
            <a:spAutoFit/>
          </a:bodyPr>
          <a:lstStyle/>
          <a:p>
            <a:pPr algn="l">
              <a:defRPr sz="1300" b="1">
                <a:solidFill>
                  <a:srgbClr val="FFFFFF"/>
                </a:solidFill>
                <a:latin typeface="Calibri"/>
              </a:defRPr>
            </a:pPr>
            <a:r>
              <a:t>CRE Workflow</a:t>
            </a:r>
          </a:p>
        </p:txBody>
      </p:sp>
      <p:sp>
        <p:nvSpPr>
          <p:cNvPr id="6" name="TextBox 5"/>
          <p:cNvSpPr txBox="1"/>
          <p:nvPr/>
        </p:nvSpPr>
        <p:spPr>
          <a:xfrm>
            <a:off x="2926080" y="1783080"/>
            <a:ext cx="4389120" cy="365760"/>
          </a:xfrm>
          <a:prstGeom prst="rect">
            <a:avLst/>
          </a:prstGeom>
          <a:noFill/>
        </p:spPr>
        <p:txBody>
          <a:bodyPr wrap="square">
            <a:spAutoFit/>
          </a:bodyPr>
          <a:lstStyle/>
          <a:p>
            <a:pPr algn="l">
              <a:defRPr sz="1300" b="1">
                <a:solidFill>
                  <a:srgbClr val="FFFFFF"/>
                </a:solidFill>
                <a:latin typeface="Calibri"/>
              </a:defRPr>
            </a:pPr>
            <a:r>
              <a:t>What It Does</a:t>
            </a:r>
          </a:p>
        </p:txBody>
      </p:sp>
      <p:sp>
        <p:nvSpPr>
          <p:cNvPr id="7" name="TextBox 6"/>
          <p:cNvSpPr txBox="1"/>
          <p:nvPr/>
        </p:nvSpPr>
        <p:spPr>
          <a:xfrm>
            <a:off x="7498080" y="1783080"/>
            <a:ext cx="2377440" cy="365760"/>
          </a:xfrm>
          <a:prstGeom prst="rect">
            <a:avLst/>
          </a:prstGeom>
          <a:noFill/>
        </p:spPr>
        <p:txBody>
          <a:bodyPr wrap="square">
            <a:spAutoFit/>
          </a:bodyPr>
          <a:lstStyle/>
          <a:p>
            <a:pPr algn="l">
              <a:defRPr sz="1300" b="1">
                <a:solidFill>
                  <a:srgbClr val="FFFFFF"/>
                </a:solidFill>
                <a:latin typeface="Calibri"/>
              </a:defRPr>
            </a:pPr>
            <a:r>
              <a:t>Replaces</a:t>
            </a:r>
          </a:p>
        </p:txBody>
      </p:sp>
      <p:sp>
        <p:nvSpPr>
          <p:cNvPr id="8" name="TextBox 7"/>
          <p:cNvSpPr txBox="1"/>
          <p:nvPr/>
        </p:nvSpPr>
        <p:spPr>
          <a:xfrm>
            <a:off x="10058400" y="1783080"/>
            <a:ext cx="1371600" cy="365760"/>
          </a:xfrm>
          <a:prstGeom prst="rect">
            <a:avLst/>
          </a:prstGeom>
          <a:noFill/>
        </p:spPr>
        <p:txBody>
          <a:bodyPr wrap="square">
            <a:spAutoFit/>
          </a:bodyPr>
          <a:lstStyle/>
          <a:p>
            <a:pPr algn="l">
              <a:defRPr sz="1300" b="1">
                <a:solidFill>
                  <a:srgbClr val="FFFFFF"/>
                </a:solidFill>
                <a:latin typeface="Calibri"/>
              </a:defRPr>
            </a:pPr>
            <a:r>
              <a:t>Output</a:t>
            </a:r>
          </a:p>
        </p:txBody>
      </p:sp>
      <p:sp>
        <p:nvSpPr>
          <p:cNvPr id="9" name="Rounded Rectangle 8"/>
          <p:cNvSpPr/>
          <p:nvPr/>
        </p:nvSpPr>
        <p:spPr>
          <a:xfrm>
            <a:off x="548640" y="2286000"/>
            <a:ext cx="11064240" cy="685800"/>
          </a:xfrm>
          <a:prstGeom prst="roundRect">
            <a:avLst>
              <a:gd name="adj" fmla="val 1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77440"/>
            <a:ext cx="2011680" cy="502920"/>
          </a:xfrm>
          <a:prstGeom prst="rect">
            <a:avLst/>
          </a:prstGeom>
          <a:noFill/>
        </p:spPr>
        <p:txBody>
          <a:bodyPr wrap="square">
            <a:spAutoFit/>
          </a:bodyPr>
          <a:lstStyle/>
          <a:p>
            <a:pPr algn="l">
              <a:defRPr sz="1200" b="1">
                <a:solidFill>
                  <a:srgbClr val="3B82F6"/>
                </a:solidFill>
                <a:latin typeface="Calibri"/>
              </a:defRPr>
            </a:pPr>
            <a:r>
              <a:t>Onboarding</a:t>
            </a:r>
          </a:p>
        </p:txBody>
      </p:sp>
      <p:sp>
        <p:nvSpPr>
          <p:cNvPr id="11" name="TextBox 10"/>
          <p:cNvSpPr txBox="1"/>
          <p:nvPr/>
        </p:nvSpPr>
        <p:spPr>
          <a:xfrm>
            <a:off x="2926080" y="2377440"/>
            <a:ext cx="4389120" cy="502920"/>
          </a:xfrm>
          <a:prstGeom prst="rect">
            <a:avLst/>
          </a:prstGeom>
          <a:noFill/>
        </p:spPr>
        <p:txBody>
          <a:bodyPr wrap="square">
            <a:spAutoFit/>
          </a:bodyPr>
          <a:lstStyle/>
          <a:p>
            <a:pPr algn="l">
              <a:defRPr sz="1200" b="0">
                <a:solidFill>
                  <a:srgbClr val="CBD5E1"/>
                </a:solidFill>
                <a:latin typeface="Calibri"/>
              </a:defRPr>
            </a:pPr>
            <a:r>
              <a:t>Auto-verify investor identity (ERC-3643 + WorldID), approve/reject</a:t>
            </a:r>
          </a:p>
        </p:txBody>
      </p:sp>
      <p:sp>
        <p:nvSpPr>
          <p:cNvPr id="12" name="TextBox 11"/>
          <p:cNvSpPr txBox="1"/>
          <p:nvPr/>
        </p:nvSpPr>
        <p:spPr>
          <a:xfrm>
            <a:off x="7498080" y="2377440"/>
            <a:ext cx="2377440" cy="502920"/>
          </a:xfrm>
          <a:prstGeom prst="rect">
            <a:avLst/>
          </a:prstGeom>
          <a:noFill/>
        </p:spPr>
        <p:txBody>
          <a:bodyPr wrap="square">
            <a:spAutoFit/>
          </a:bodyPr>
          <a:lstStyle/>
          <a:p>
            <a:pPr algn="l">
              <a:defRPr sz="1200" b="0">
                <a:solidFill>
                  <a:srgbClr val="94A3B8"/>
                </a:solidFill>
                <a:latin typeface="Calibri"/>
              </a:defRPr>
            </a:pPr>
            <a:r>
              <a:t>Manual admin approval</a:t>
            </a:r>
          </a:p>
        </p:txBody>
      </p:sp>
      <p:sp>
        <p:nvSpPr>
          <p:cNvPr id="13" name="TextBox 12"/>
          <p:cNvSpPr txBox="1"/>
          <p:nvPr/>
        </p:nvSpPr>
        <p:spPr>
          <a:xfrm>
            <a:off x="10058400" y="2377440"/>
            <a:ext cx="1371600" cy="502920"/>
          </a:xfrm>
          <a:prstGeom prst="rect">
            <a:avLst/>
          </a:prstGeom>
          <a:noFill/>
        </p:spPr>
        <p:txBody>
          <a:bodyPr wrap="square">
            <a:spAutoFit/>
          </a:bodyPr>
          <a:lstStyle/>
          <a:p>
            <a:pPr algn="l">
              <a:defRPr sz="1200" b="0">
                <a:solidFill>
                  <a:srgbClr val="22C55E"/>
                </a:solidFill>
                <a:latin typeface="Calibri"/>
              </a:defRPr>
            </a:pPr>
            <a:r>
              <a:t>5 reports</a:t>
            </a:r>
          </a:p>
        </p:txBody>
      </p:sp>
      <p:sp>
        <p:nvSpPr>
          <p:cNvPr id="14" name="Rounded Rectangle 13"/>
          <p:cNvSpPr/>
          <p:nvPr/>
        </p:nvSpPr>
        <p:spPr>
          <a:xfrm>
            <a:off x="548640" y="3063240"/>
            <a:ext cx="11064240" cy="685800"/>
          </a:xfrm>
          <a:prstGeom prst="roundRect">
            <a:avLst>
              <a:gd name="adj" fmla="val 1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154680"/>
            <a:ext cx="2011680" cy="502920"/>
          </a:xfrm>
          <a:prstGeom prst="rect">
            <a:avLst/>
          </a:prstGeom>
          <a:noFill/>
        </p:spPr>
        <p:txBody>
          <a:bodyPr wrap="square">
            <a:spAutoFit/>
          </a:bodyPr>
          <a:lstStyle/>
          <a:p>
            <a:pPr algn="l">
              <a:defRPr sz="1200" b="1">
                <a:solidFill>
                  <a:srgbClr val="3B82F6"/>
                </a:solidFill>
                <a:latin typeface="Calibri"/>
              </a:defRPr>
            </a:pPr>
            <a:r>
              <a:t>Campaign Monitor</a:t>
            </a:r>
          </a:p>
        </p:txBody>
      </p:sp>
      <p:sp>
        <p:nvSpPr>
          <p:cNvPr id="16" name="TextBox 15"/>
          <p:cNvSpPr txBox="1"/>
          <p:nvPr/>
        </p:nvSpPr>
        <p:spPr>
          <a:xfrm>
            <a:off x="2926080" y="3154680"/>
            <a:ext cx="4389120" cy="502920"/>
          </a:xfrm>
          <a:prstGeom prst="rect">
            <a:avLst/>
          </a:prstGeom>
          <a:noFill/>
        </p:spPr>
        <p:txBody>
          <a:bodyPr wrap="square">
            <a:spAutoFit/>
          </a:bodyPr>
          <a:lstStyle/>
          <a:p>
            <a:pPr algn="l">
              <a:defRPr sz="1200" b="0">
                <a:solidFill>
                  <a:srgbClr val="CBD5E1"/>
                </a:solidFill>
                <a:latin typeface="Calibri"/>
              </a:defRPr>
            </a:pPr>
            <a:r>
              <a:t>Detect expired/underfunded campaigns, trigger batch refunds</a:t>
            </a:r>
          </a:p>
        </p:txBody>
      </p:sp>
      <p:sp>
        <p:nvSpPr>
          <p:cNvPr id="17" name="TextBox 16"/>
          <p:cNvSpPr txBox="1"/>
          <p:nvPr/>
        </p:nvSpPr>
        <p:spPr>
          <a:xfrm>
            <a:off x="7498080" y="3154680"/>
            <a:ext cx="2377440" cy="502920"/>
          </a:xfrm>
          <a:prstGeom prst="rect">
            <a:avLst/>
          </a:prstGeom>
          <a:noFill/>
        </p:spPr>
        <p:txBody>
          <a:bodyPr wrap="square">
            <a:spAutoFit/>
          </a:bodyPr>
          <a:lstStyle/>
          <a:p>
            <a:pPr algn="l">
              <a:defRPr sz="1200" b="0">
                <a:solidFill>
                  <a:srgbClr val="94A3B8"/>
                </a:solidFill>
                <a:latin typeface="Calibri"/>
              </a:defRPr>
            </a:pPr>
            <a:r>
              <a:t>campaignScheduler.js</a:t>
            </a:r>
          </a:p>
        </p:txBody>
      </p:sp>
      <p:sp>
        <p:nvSpPr>
          <p:cNvPr id="18" name="TextBox 17"/>
          <p:cNvSpPr txBox="1"/>
          <p:nvPr/>
        </p:nvSpPr>
        <p:spPr>
          <a:xfrm>
            <a:off x="10058400" y="3154680"/>
            <a:ext cx="1371600" cy="502920"/>
          </a:xfrm>
          <a:prstGeom prst="rect">
            <a:avLst/>
          </a:prstGeom>
          <a:noFill/>
        </p:spPr>
        <p:txBody>
          <a:bodyPr wrap="square">
            <a:spAutoFit/>
          </a:bodyPr>
          <a:lstStyle/>
          <a:p>
            <a:pPr algn="l">
              <a:defRPr sz="1200" b="0">
                <a:solidFill>
                  <a:srgbClr val="22C55E"/>
                </a:solidFill>
                <a:latin typeface="Calibri"/>
              </a:defRPr>
            </a:pPr>
            <a:r>
              <a:t>2 reports</a:t>
            </a:r>
          </a:p>
        </p:txBody>
      </p:sp>
      <p:sp>
        <p:nvSpPr>
          <p:cNvPr id="19" name="Rounded Rectangle 18"/>
          <p:cNvSpPr/>
          <p:nvPr/>
        </p:nvSpPr>
        <p:spPr>
          <a:xfrm>
            <a:off x="548640" y="3840480"/>
            <a:ext cx="11064240" cy="685800"/>
          </a:xfrm>
          <a:prstGeom prst="roundRect">
            <a:avLst>
              <a:gd name="adj" fmla="val 1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931920"/>
            <a:ext cx="2011680" cy="502920"/>
          </a:xfrm>
          <a:prstGeom prst="rect">
            <a:avLst/>
          </a:prstGeom>
          <a:noFill/>
        </p:spPr>
        <p:txBody>
          <a:bodyPr wrap="square">
            <a:spAutoFit/>
          </a:bodyPr>
          <a:lstStyle/>
          <a:p>
            <a:pPr algn="l">
              <a:defRPr sz="1200" b="1">
                <a:solidFill>
                  <a:srgbClr val="3B82F6"/>
                </a:solidFill>
                <a:latin typeface="Calibri"/>
              </a:defRPr>
            </a:pPr>
            <a:r>
              <a:t>Rental Lifecycle</a:t>
            </a:r>
          </a:p>
        </p:txBody>
      </p:sp>
      <p:sp>
        <p:nvSpPr>
          <p:cNvPr id="21" name="TextBox 20"/>
          <p:cNvSpPr txBox="1"/>
          <p:nvPr/>
        </p:nvSpPr>
        <p:spPr>
          <a:xfrm>
            <a:off x="2926080" y="3931920"/>
            <a:ext cx="4389120" cy="502920"/>
          </a:xfrm>
          <a:prstGeom prst="rect">
            <a:avLst/>
          </a:prstGeom>
          <a:noFill/>
        </p:spPr>
        <p:txBody>
          <a:bodyPr wrap="square">
            <a:spAutoFit/>
          </a:bodyPr>
          <a:lstStyle/>
          <a:p>
            <a:pPr algn="l">
              <a:defRPr sz="1200" b="0">
                <a:solidFill>
                  <a:srgbClr val="CBD5E1"/>
                </a:solidFill>
                <a:latin typeface="Calibri"/>
              </a:defRPr>
            </a:pPr>
            <a:r>
              <a:t>4-milestone verification: VIN, escrow, insurance, registration</a:t>
            </a:r>
          </a:p>
        </p:txBody>
      </p:sp>
      <p:sp>
        <p:nvSpPr>
          <p:cNvPr id="22" name="TextBox 21"/>
          <p:cNvSpPr txBox="1"/>
          <p:nvPr/>
        </p:nvSpPr>
        <p:spPr>
          <a:xfrm>
            <a:off x="7498080" y="3931920"/>
            <a:ext cx="2377440" cy="502920"/>
          </a:xfrm>
          <a:prstGeom prst="rect">
            <a:avLst/>
          </a:prstGeom>
          <a:noFill/>
        </p:spPr>
        <p:txBody>
          <a:bodyPr wrap="square">
            <a:spAutoFit/>
          </a:bodyPr>
          <a:lstStyle/>
          <a:p>
            <a:pPr algn="l">
              <a:defRPr sz="1200" b="0">
                <a:solidFill>
                  <a:srgbClr val="94A3B8"/>
                </a:solidFill>
                <a:latin typeface="Calibri"/>
              </a:defRPr>
            </a:pPr>
            <a:r>
              <a:t>bookingScheduler.js</a:t>
            </a:r>
          </a:p>
        </p:txBody>
      </p:sp>
      <p:sp>
        <p:nvSpPr>
          <p:cNvPr id="23" name="TextBox 22"/>
          <p:cNvSpPr txBox="1"/>
          <p:nvPr/>
        </p:nvSpPr>
        <p:spPr>
          <a:xfrm>
            <a:off x="10058400" y="3931920"/>
            <a:ext cx="1371600" cy="502920"/>
          </a:xfrm>
          <a:prstGeom prst="rect">
            <a:avLst/>
          </a:prstGeom>
          <a:noFill/>
        </p:spPr>
        <p:txBody>
          <a:bodyPr wrap="square">
            <a:spAutoFit/>
          </a:bodyPr>
          <a:lstStyle/>
          <a:p>
            <a:pPr algn="l">
              <a:defRPr sz="1200" b="0">
                <a:solidFill>
                  <a:srgbClr val="22C55E"/>
                </a:solidFill>
                <a:latin typeface="Calibri"/>
              </a:defRPr>
            </a:pPr>
            <a:r>
              <a:t>3 reports</a:t>
            </a:r>
          </a:p>
        </p:txBody>
      </p:sp>
      <p:sp>
        <p:nvSpPr>
          <p:cNvPr id="24" name="Rounded Rectangle 23"/>
          <p:cNvSpPr/>
          <p:nvPr/>
        </p:nvSpPr>
        <p:spPr>
          <a:xfrm>
            <a:off x="548640" y="4617720"/>
            <a:ext cx="11064240" cy="685800"/>
          </a:xfrm>
          <a:prstGeom prst="roundRect">
            <a:avLst>
              <a:gd name="adj" fmla="val 1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709160"/>
            <a:ext cx="2011680" cy="502920"/>
          </a:xfrm>
          <a:prstGeom prst="rect">
            <a:avLst/>
          </a:prstGeom>
          <a:noFill/>
        </p:spPr>
        <p:txBody>
          <a:bodyPr wrap="square">
            <a:spAutoFit/>
          </a:bodyPr>
          <a:lstStyle/>
          <a:p>
            <a:pPr algn="l">
              <a:defRPr sz="1200" b="1">
                <a:solidFill>
                  <a:srgbClr val="3B82F6"/>
                </a:solidFill>
                <a:latin typeface="Calibri"/>
              </a:defRPr>
            </a:pPr>
            <a:r>
              <a:t>Vehicle Telematics</a:t>
            </a:r>
          </a:p>
        </p:txBody>
      </p:sp>
      <p:sp>
        <p:nvSpPr>
          <p:cNvPr id="26" name="TextBox 25"/>
          <p:cNvSpPr txBox="1"/>
          <p:nvPr/>
        </p:nvSpPr>
        <p:spPr>
          <a:xfrm>
            <a:off x="2926080" y="4709160"/>
            <a:ext cx="4389120" cy="502920"/>
          </a:xfrm>
          <a:prstGeom prst="rect">
            <a:avLst/>
          </a:prstGeom>
          <a:noFill/>
        </p:spPr>
        <p:txBody>
          <a:bodyPr wrap="square">
            <a:spAutoFit/>
          </a:bodyPr>
          <a:lstStyle/>
          <a:p>
            <a:pPr algn="l">
              <a:defRPr sz="1200" b="0">
                <a:solidFill>
                  <a:srgbClr val="CBD5E1"/>
                </a:solidFill>
                <a:latin typeface="Calibri"/>
              </a:defRPr>
            </a:pPr>
            <a:r>
              <a:t>Poll odometer/telemetry data, update VehicleNFT on-chain</a:t>
            </a:r>
          </a:p>
        </p:txBody>
      </p:sp>
      <p:sp>
        <p:nvSpPr>
          <p:cNvPr id="27" name="TextBox 26"/>
          <p:cNvSpPr txBox="1"/>
          <p:nvPr/>
        </p:nvSpPr>
        <p:spPr>
          <a:xfrm>
            <a:off x="7498080" y="4709160"/>
            <a:ext cx="2377440" cy="502920"/>
          </a:xfrm>
          <a:prstGeom prst="rect">
            <a:avLst/>
          </a:prstGeom>
          <a:noFill/>
        </p:spPr>
        <p:txBody>
          <a:bodyPr wrap="square">
            <a:spAutoFit/>
          </a:bodyPr>
          <a:lstStyle/>
          <a:p>
            <a:pPr algn="l">
              <a:defRPr sz="1200" b="0">
                <a:solidFill>
                  <a:srgbClr val="94A3B8"/>
                </a:solidFill>
                <a:latin typeface="Calibri"/>
              </a:defRPr>
            </a:pPr>
            <a:r>
              <a:t>revenueSyncService.js</a:t>
            </a:r>
          </a:p>
        </p:txBody>
      </p:sp>
      <p:sp>
        <p:nvSpPr>
          <p:cNvPr id="28" name="TextBox 27"/>
          <p:cNvSpPr txBox="1"/>
          <p:nvPr/>
        </p:nvSpPr>
        <p:spPr>
          <a:xfrm>
            <a:off x="10058400" y="4709160"/>
            <a:ext cx="1371600" cy="502920"/>
          </a:xfrm>
          <a:prstGeom prst="rect">
            <a:avLst/>
          </a:prstGeom>
          <a:noFill/>
        </p:spPr>
        <p:txBody>
          <a:bodyPr wrap="square">
            <a:spAutoFit/>
          </a:bodyPr>
          <a:lstStyle/>
          <a:p>
            <a:pPr algn="l">
              <a:defRPr sz="1200" b="0">
                <a:solidFill>
                  <a:srgbClr val="22C55E"/>
                </a:solidFill>
                <a:latin typeface="Calibri"/>
              </a:defRPr>
            </a:pPr>
            <a:r>
              <a:t>3 reports</a:t>
            </a:r>
          </a:p>
        </p:txBody>
      </p:sp>
      <p:sp>
        <p:nvSpPr>
          <p:cNvPr id="29" name="Rounded Rectangle 28"/>
          <p:cNvSpPr/>
          <p:nvPr/>
        </p:nvSpPr>
        <p:spPr>
          <a:xfrm>
            <a:off x="548640" y="5394960"/>
            <a:ext cx="11064240" cy="685800"/>
          </a:xfrm>
          <a:prstGeom prst="roundRect">
            <a:avLst>
              <a:gd name="adj" fmla="val 1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5486400"/>
            <a:ext cx="2011680" cy="502920"/>
          </a:xfrm>
          <a:prstGeom prst="rect">
            <a:avLst/>
          </a:prstGeom>
          <a:noFill/>
        </p:spPr>
        <p:txBody>
          <a:bodyPr wrap="square">
            <a:spAutoFit/>
          </a:bodyPr>
          <a:lstStyle/>
          <a:p>
            <a:pPr algn="l">
              <a:defRPr sz="1200" b="1">
                <a:solidFill>
                  <a:srgbClr val="3B82F6"/>
                </a:solidFill>
                <a:latin typeface="Calibri"/>
              </a:defRPr>
            </a:pPr>
            <a:r>
              <a:t>Compliance</a:t>
            </a:r>
          </a:p>
        </p:txBody>
      </p:sp>
      <p:sp>
        <p:nvSpPr>
          <p:cNvPr id="31" name="TextBox 30"/>
          <p:cNvSpPr txBox="1"/>
          <p:nvPr/>
        </p:nvSpPr>
        <p:spPr>
          <a:xfrm>
            <a:off x="2926080" y="5486400"/>
            <a:ext cx="4389120" cy="502920"/>
          </a:xfrm>
          <a:prstGeom prst="rect">
            <a:avLst/>
          </a:prstGeom>
          <a:noFill/>
        </p:spPr>
        <p:txBody>
          <a:bodyPr wrap="square">
            <a:spAutoFit/>
          </a:bodyPr>
          <a:lstStyle/>
          <a:p>
            <a:pPr algn="l">
              <a:defRPr sz="1200" b="0">
                <a:solidFill>
                  <a:srgbClr val="CBD5E1"/>
                </a:solidFill>
                <a:latin typeface="Calibri"/>
              </a:defRPr>
            </a:pPr>
            <a:r>
              <a:t>Monitor registration/insurance expiry, overdue maintenance</a:t>
            </a:r>
          </a:p>
        </p:txBody>
      </p:sp>
      <p:sp>
        <p:nvSpPr>
          <p:cNvPr id="32" name="TextBox 31"/>
          <p:cNvSpPr txBox="1"/>
          <p:nvPr/>
        </p:nvSpPr>
        <p:spPr>
          <a:xfrm>
            <a:off x="7498080" y="5486400"/>
            <a:ext cx="2377440" cy="502920"/>
          </a:xfrm>
          <a:prstGeom prst="rect">
            <a:avLst/>
          </a:prstGeom>
          <a:noFill/>
        </p:spPr>
        <p:txBody>
          <a:bodyPr wrap="square">
            <a:spAutoFit/>
          </a:bodyPr>
          <a:lstStyle/>
          <a:p>
            <a:pPr algn="l">
              <a:defRPr sz="1200" b="0">
                <a:solidFill>
                  <a:srgbClr val="F97316"/>
                </a:solidFill>
                <a:latin typeface="Calibri"/>
              </a:defRPr>
            </a:pPr>
            <a:r>
              <a:t>None (NEW capability)</a:t>
            </a:r>
          </a:p>
        </p:txBody>
      </p:sp>
      <p:sp>
        <p:nvSpPr>
          <p:cNvPr id="33" name="TextBox 32"/>
          <p:cNvSpPr txBox="1"/>
          <p:nvPr/>
        </p:nvSpPr>
        <p:spPr>
          <a:xfrm>
            <a:off x="10058400" y="5486400"/>
            <a:ext cx="1371600" cy="502920"/>
          </a:xfrm>
          <a:prstGeom prst="rect">
            <a:avLst/>
          </a:prstGeom>
          <a:noFill/>
        </p:spPr>
        <p:txBody>
          <a:bodyPr wrap="square">
            <a:spAutoFit/>
          </a:bodyPr>
          <a:lstStyle/>
          <a:p>
            <a:pPr algn="l">
              <a:defRPr sz="1200" b="0">
                <a:solidFill>
                  <a:srgbClr val="22C55E"/>
                </a:solidFill>
                <a:latin typeface="Calibri"/>
              </a:defRPr>
            </a:pPr>
            <a:r>
              <a:t>3 reports</a:t>
            </a:r>
          </a:p>
        </p:txBody>
      </p:sp>
      <p:sp>
        <p:nvSpPr>
          <p:cNvPr id="34" name="TextBox 33"/>
          <p:cNvSpPr txBox="1"/>
          <p:nvPr/>
        </p:nvSpPr>
        <p:spPr>
          <a:xfrm>
            <a:off x="731520" y="6217920"/>
            <a:ext cx="10058400" cy="365760"/>
          </a:xfrm>
          <a:prstGeom prst="rect">
            <a:avLst/>
          </a:prstGeom>
          <a:noFill/>
        </p:spPr>
        <p:txBody>
          <a:bodyPr wrap="square">
            <a:spAutoFit/>
          </a:bodyPr>
          <a:lstStyle/>
          <a:p>
            <a:pPr algn="ctr">
              <a:defRPr sz="1200" b="0">
                <a:solidFill>
                  <a:srgbClr val="94A3B8"/>
                </a:solidFill>
                <a:latin typeface="Calibri"/>
              </a:defRPr>
            </a:pPr>
            <a:r>
              <a:t>All 5 workflows compile to WASM, run on Chainlink DON nodes, and submit reports to 5 Receiver contracts on Sepolia</a:t>
            </a:r>
          </a:p>
        </p:txBody>
      </p:sp>
      <p:sp>
        <p:nvSpPr>
          <p:cNvPr id="35" name="TextBox 34"/>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9333EA"/>
                </a:solidFill>
                <a:latin typeface="Calibri"/>
              </a:defRPr>
            </a:pPr>
            <a:r>
              <a:t>WorldID Integration</a:t>
            </a:r>
          </a:p>
        </p:txBody>
      </p:sp>
      <p:sp>
        <p:nvSpPr>
          <p:cNvPr id="3" name="TextBox 2"/>
          <p:cNvSpPr txBox="1"/>
          <p:nvPr/>
        </p:nvSpPr>
        <p:spPr>
          <a:xfrm>
            <a:off x="731520" y="1097280"/>
            <a:ext cx="10058400" cy="457200"/>
          </a:xfrm>
          <a:prstGeom prst="rect">
            <a:avLst/>
          </a:prstGeom>
          <a:noFill/>
        </p:spPr>
        <p:txBody>
          <a:bodyPr wrap="square">
            <a:spAutoFit/>
          </a:bodyPr>
          <a:lstStyle/>
          <a:p>
            <a:pPr algn="l">
              <a:defRPr sz="1600" b="0">
                <a:solidFill>
                  <a:srgbClr val="94A3B8"/>
                </a:solidFill>
                <a:latin typeface="Calibri"/>
              </a:defRPr>
            </a:pPr>
            <a:r>
              <a:t>Proof-of-Personhood for Sybil-Resistant Investor Onboarding</a:t>
            </a:r>
          </a:p>
        </p:txBody>
      </p:sp>
      <p:sp>
        <p:nvSpPr>
          <p:cNvPr id="4" name="Rounded Rectangle 3"/>
          <p:cNvSpPr/>
          <p:nvPr/>
        </p:nvSpPr>
        <p:spPr>
          <a:xfrm>
            <a:off x="457200" y="1828800"/>
            <a:ext cx="2651760" cy="274320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828800"/>
            <a:ext cx="73152" cy="274320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965960"/>
            <a:ext cx="2286000" cy="365760"/>
          </a:xfrm>
          <a:prstGeom prst="rect">
            <a:avLst/>
          </a:prstGeom>
          <a:noFill/>
        </p:spPr>
        <p:txBody>
          <a:bodyPr wrap="square">
            <a:spAutoFit/>
          </a:bodyPr>
          <a:lstStyle/>
          <a:p>
            <a:pPr algn="l">
              <a:defRPr sz="1500" b="1">
                <a:solidFill>
                  <a:srgbClr val="FFFFFF"/>
                </a:solidFill>
                <a:latin typeface="Calibri"/>
              </a:defRPr>
            </a:pPr>
            <a:r>
              <a:t>1. Verify in</a:t>
            </a:r>
            <a:br/>
            <a:r>
              <a:t>World App</a:t>
            </a:r>
          </a:p>
        </p:txBody>
      </p:sp>
      <p:sp>
        <p:nvSpPr>
          <p:cNvPr id="7" name="TextBox 6"/>
          <p:cNvSpPr txBox="1"/>
          <p:nvPr/>
        </p:nvSpPr>
        <p:spPr>
          <a:xfrm>
            <a:off x="731520" y="2651760"/>
            <a:ext cx="2194560" cy="1645920"/>
          </a:xfrm>
          <a:prstGeom prst="rect">
            <a:avLst/>
          </a:prstGeom>
          <a:noFill/>
        </p:spPr>
        <p:txBody>
          <a:bodyPr wrap="square">
            <a:spAutoFit/>
          </a:bodyPr>
          <a:lstStyle/>
          <a:p>
            <a:pPr algn="l">
              <a:defRPr sz="1200" b="0">
                <a:solidFill>
                  <a:srgbClr val="CBD5E1"/>
                </a:solidFill>
                <a:latin typeface="Calibri"/>
              </a:defRPr>
            </a:pPr>
            <a:r>
              <a:t>Investor opens RegShield</a:t>
            </a:r>
            <a:br/>
            <a:r>
              <a:t>in World App. Completes</a:t>
            </a:r>
            <a:br/>
            <a:r>
              <a:t>Orb-level ZK verification.</a:t>
            </a:r>
          </a:p>
        </p:txBody>
      </p:sp>
      <p:sp>
        <p:nvSpPr>
          <p:cNvPr id="8" name="Right Arrow 7"/>
          <p:cNvSpPr/>
          <p:nvPr/>
        </p:nvSpPr>
        <p:spPr>
          <a:xfrm>
            <a:off x="3154680" y="2926080"/>
            <a:ext cx="274320" cy="228600"/>
          </a:xfrm>
          <a:prstGeom prst="rightArrow">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383280" y="1828800"/>
            <a:ext cx="2651760" cy="274320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83280" y="1828800"/>
            <a:ext cx="73152" cy="274320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965960"/>
            <a:ext cx="2286000" cy="365760"/>
          </a:xfrm>
          <a:prstGeom prst="rect">
            <a:avLst/>
          </a:prstGeom>
          <a:noFill/>
        </p:spPr>
        <p:txBody>
          <a:bodyPr wrap="square">
            <a:spAutoFit/>
          </a:bodyPr>
          <a:lstStyle/>
          <a:p>
            <a:pPr algn="l">
              <a:defRPr sz="1500" b="1">
                <a:solidFill>
                  <a:srgbClr val="FFFFFF"/>
                </a:solidFill>
                <a:latin typeface="Calibri"/>
              </a:defRPr>
            </a:pPr>
            <a:r>
              <a:t>2. Cloud Proof</a:t>
            </a:r>
            <a:br/>
            <a:r>
              <a:t>Validation</a:t>
            </a:r>
          </a:p>
        </p:txBody>
      </p:sp>
      <p:sp>
        <p:nvSpPr>
          <p:cNvPr id="12" name="TextBox 11"/>
          <p:cNvSpPr txBox="1"/>
          <p:nvPr/>
        </p:nvSpPr>
        <p:spPr>
          <a:xfrm>
            <a:off x="3657600" y="2651760"/>
            <a:ext cx="2194560" cy="1645920"/>
          </a:xfrm>
          <a:prstGeom prst="rect">
            <a:avLst/>
          </a:prstGeom>
          <a:noFill/>
        </p:spPr>
        <p:txBody>
          <a:bodyPr wrap="square">
            <a:spAutoFit/>
          </a:bodyPr>
          <a:lstStyle/>
          <a:p>
            <a:pPr algn="l">
              <a:defRPr sz="1200" b="0">
                <a:solidFill>
                  <a:srgbClr val="CBD5E1"/>
                </a:solidFill>
                <a:latin typeface="Calibri"/>
              </a:defRPr>
            </a:pPr>
            <a:r>
              <a:t>Backend API verifies proof</a:t>
            </a:r>
            <a:br/>
            <a:r>
              <a:t>via Worldcoin cloud service.</a:t>
            </a:r>
            <a:br/>
            <a:r>
              <a:t>Returns merkle root + nullifier.</a:t>
            </a:r>
          </a:p>
        </p:txBody>
      </p:sp>
      <p:sp>
        <p:nvSpPr>
          <p:cNvPr id="13" name="Right Arrow 12"/>
          <p:cNvSpPr/>
          <p:nvPr/>
        </p:nvSpPr>
        <p:spPr>
          <a:xfrm>
            <a:off x="6080760" y="2926080"/>
            <a:ext cx="274320" cy="228600"/>
          </a:xfrm>
          <a:prstGeom prst="rightArrow">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09360" y="1828800"/>
            <a:ext cx="2651760" cy="274320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9360" y="1828800"/>
            <a:ext cx="73152" cy="274320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1965960"/>
            <a:ext cx="2286000" cy="365760"/>
          </a:xfrm>
          <a:prstGeom prst="rect">
            <a:avLst/>
          </a:prstGeom>
          <a:noFill/>
        </p:spPr>
        <p:txBody>
          <a:bodyPr wrap="square">
            <a:spAutoFit/>
          </a:bodyPr>
          <a:lstStyle/>
          <a:p>
            <a:pPr algn="l">
              <a:defRPr sz="1500" b="1">
                <a:solidFill>
                  <a:srgbClr val="FFFFFF"/>
                </a:solidFill>
                <a:latin typeface="Calibri"/>
              </a:defRPr>
            </a:pPr>
            <a:r>
              <a:t>3. On-Chain</a:t>
            </a:r>
            <a:br/>
            <a:r>
              <a:t>Registration</a:t>
            </a:r>
          </a:p>
        </p:txBody>
      </p:sp>
      <p:sp>
        <p:nvSpPr>
          <p:cNvPr id="17" name="TextBox 16"/>
          <p:cNvSpPr txBox="1"/>
          <p:nvPr/>
        </p:nvSpPr>
        <p:spPr>
          <a:xfrm>
            <a:off x="6583680" y="2651760"/>
            <a:ext cx="2194560" cy="1645920"/>
          </a:xfrm>
          <a:prstGeom prst="rect">
            <a:avLst/>
          </a:prstGeom>
          <a:noFill/>
        </p:spPr>
        <p:txBody>
          <a:bodyPr wrap="square">
            <a:spAutoFit/>
          </a:bodyPr>
          <a:lstStyle/>
          <a:p>
            <a:pPr algn="l">
              <a:defRPr sz="1200" b="0">
                <a:solidFill>
                  <a:srgbClr val="CBD5E1"/>
                </a:solidFill>
                <a:latin typeface="Calibri"/>
              </a:defRPr>
            </a:pPr>
            <a:r>
              <a:t>WorldIDVerifier.sol calls</a:t>
            </a:r>
            <a:br/>
            <a:r>
              <a:t>World ID Router. Maps address</a:t>
            </a:r>
            <a:br/>
            <a:r>
              <a:t>as verified. Prevents duplicates.</a:t>
            </a:r>
          </a:p>
        </p:txBody>
      </p:sp>
      <p:sp>
        <p:nvSpPr>
          <p:cNvPr id="18" name="Right Arrow 17"/>
          <p:cNvSpPr/>
          <p:nvPr/>
        </p:nvSpPr>
        <p:spPr>
          <a:xfrm>
            <a:off x="9006840" y="2926080"/>
            <a:ext cx="274320" cy="228600"/>
          </a:xfrm>
          <a:prstGeom prst="rightArrow">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235440" y="1828800"/>
            <a:ext cx="2651760" cy="274320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235440" y="1828800"/>
            <a:ext cx="73152" cy="274320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09760" y="1965960"/>
            <a:ext cx="2286000" cy="365760"/>
          </a:xfrm>
          <a:prstGeom prst="rect">
            <a:avLst/>
          </a:prstGeom>
          <a:noFill/>
        </p:spPr>
        <p:txBody>
          <a:bodyPr wrap="square">
            <a:spAutoFit/>
          </a:bodyPr>
          <a:lstStyle/>
          <a:p>
            <a:pPr algn="l">
              <a:defRPr sz="1500" b="1">
                <a:solidFill>
                  <a:srgbClr val="FFFFFF"/>
                </a:solidFill>
                <a:latin typeface="Calibri"/>
              </a:defRPr>
            </a:pPr>
            <a:r>
              <a:t>4. Compliance</a:t>
            </a:r>
            <a:br/>
            <a:r>
              <a:t>Gate</a:t>
            </a:r>
          </a:p>
        </p:txBody>
      </p:sp>
      <p:sp>
        <p:nvSpPr>
          <p:cNvPr id="22" name="TextBox 21"/>
          <p:cNvSpPr txBox="1"/>
          <p:nvPr/>
        </p:nvSpPr>
        <p:spPr>
          <a:xfrm>
            <a:off x="9509760" y="2651760"/>
            <a:ext cx="2194560" cy="1645920"/>
          </a:xfrm>
          <a:prstGeom prst="rect">
            <a:avLst/>
          </a:prstGeom>
          <a:noFill/>
        </p:spPr>
        <p:txBody>
          <a:bodyPr wrap="square">
            <a:spAutoFit/>
          </a:bodyPr>
          <a:lstStyle/>
          <a:p>
            <a:pPr algn="l">
              <a:defRPr sz="1200" b="0">
                <a:solidFill>
                  <a:srgbClr val="CBD5E1"/>
                </a:solidFill>
                <a:latin typeface="Calibri"/>
              </a:defRPr>
            </a:pPr>
            <a:r>
              <a:t>useComplianceStatus() hook</a:t>
            </a:r>
            <a:br/>
            <a:r>
              <a:t>checks isWorldIDVerified()</a:t>
            </a:r>
            <a:br/>
            <a:r>
              <a:t>before enabling investments.</a:t>
            </a:r>
          </a:p>
        </p:txBody>
      </p:sp>
      <p:sp>
        <p:nvSpPr>
          <p:cNvPr id="23" name="Rounded Rectangle 22"/>
          <p:cNvSpPr/>
          <p:nvPr/>
        </p:nvSpPr>
        <p:spPr>
          <a:xfrm>
            <a:off x="731520" y="4937760"/>
            <a:ext cx="10698480" cy="1737360"/>
          </a:xfrm>
          <a:prstGeom prst="roundRect">
            <a:avLst>
              <a:gd name="adj" fmla="val 3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5029200"/>
            <a:ext cx="4572000" cy="365760"/>
          </a:xfrm>
          <a:prstGeom prst="rect">
            <a:avLst/>
          </a:prstGeom>
          <a:noFill/>
        </p:spPr>
        <p:txBody>
          <a:bodyPr wrap="square">
            <a:spAutoFit/>
          </a:bodyPr>
          <a:lstStyle/>
          <a:p>
            <a:pPr algn="l">
              <a:defRPr sz="1600" b="1">
                <a:solidFill>
                  <a:srgbClr val="9333EA"/>
                </a:solidFill>
                <a:latin typeface="Calibri"/>
              </a:defRPr>
            </a:pPr>
            <a:r>
              <a:t>WorldIDVerifier.sol — Sepolia</a:t>
            </a:r>
          </a:p>
        </p:txBody>
      </p:sp>
      <p:sp>
        <p:nvSpPr>
          <p:cNvPr id="25" name="TextBox 24"/>
          <p:cNvSpPr txBox="1"/>
          <p:nvPr/>
        </p:nvSpPr>
        <p:spPr>
          <a:xfrm>
            <a:off x="1005840" y="5394960"/>
            <a:ext cx="9601200" cy="914400"/>
          </a:xfrm>
          <a:prstGeom prst="rect">
            <a:avLst/>
          </a:prstGeom>
          <a:noFill/>
        </p:spPr>
        <p:txBody>
          <a:bodyPr wrap="square">
            <a:spAutoFit/>
          </a:bodyPr>
          <a:lstStyle/>
          <a:p>
            <a:pPr>
              <a:spcBef>
                <a:spcPts val="400"/>
              </a:spcBef>
              <a:spcAft>
                <a:spcPts val="800"/>
              </a:spcAft>
            </a:pPr>
            <a:r>
              <a:rPr sz="1100">
                <a:solidFill>
                  <a:srgbClr val="9333EA"/>
                </a:solidFill>
                <a:latin typeface="Calibri"/>
              </a:rPr>
              <a:t>▸ </a:t>
            </a:r>
            <a:r>
              <a:rPr sz="1100">
                <a:solidFill>
                  <a:srgbClr val="CBD5E1"/>
                </a:solidFill>
                <a:latin typeface="Calibri"/>
              </a:rPr>
              <a:t>Address: 0x838C9397F5c00f7010924dDc4c2E93Fcab6c0363</a:t>
            </a:r>
          </a:p>
          <a:p>
            <a:pPr>
              <a:spcBef>
                <a:spcPts val="400"/>
              </a:spcBef>
              <a:spcAft>
                <a:spcPts val="800"/>
              </a:spcAft>
            </a:pPr>
            <a:r>
              <a:rPr sz="1100">
                <a:solidFill>
                  <a:srgbClr val="9333EA"/>
                </a:solidFill>
                <a:latin typeface="Calibri"/>
              </a:rPr>
              <a:t>▸ </a:t>
            </a:r>
            <a:r>
              <a:rPr sz="1100">
                <a:solidFill>
                  <a:srgbClr val="CBD5E1"/>
                </a:solidFill>
                <a:latin typeface="Calibri"/>
              </a:rPr>
              <a:t>verifyAndRegister(signal, root, nullifierHash, proof) — registers verified user</a:t>
            </a:r>
          </a:p>
          <a:p>
            <a:pPr>
              <a:spcBef>
                <a:spcPts val="400"/>
              </a:spcBef>
              <a:spcAft>
                <a:spcPts val="800"/>
              </a:spcAft>
            </a:pPr>
            <a:r>
              <a:rPr sz="1100">
                <a:solidFill>
                  <a:srgbClr val="9333EA"/>
                </a:solidFill>
                <a:latin typeface="Calibri"/>
              </a:rPr>
              <a:t>▸ </a:t>
            </a:r>
            <a:r>
              <a:rPr sz="1100">
                <a:solidFill>
                  <a:srgbClr val="CBD5E1"/>
                </a:solidFill>
                <a:latin typeface="Calibri"/>
              </a:rPr>
              <a:t>isWorldIDVerified(address) — quick lookup for compliance gates</a:t>
            </a:r>
          </a:p>
          <a:p>
            <a:pPr>
              <a:spcBef>
                <a:spcPts val="400"/>
              </a:spcBef>
              <a:spcAft>
                <a:spcPts val="800"/>
              </a:spcAft>
            </a:pPr>
            <a:r>
              <a:rPr sz="1100">
                <a:solidFill>
                  <a:srgbClr val="9333EA"/>
                </a:solidFill>
                <a:latin typeface="Calibri"/>
              </a:rPr>
              <a:t>▸ </a:t>
            </a:r>
            <a:r>
              <a:rPr sz="1100">
                <a:solidFill>
                  <a:srgbClr val="CBD5E1"/>
                </a:solidFill>
                <a:latin typeface="Calibri"/>
              </a:rPr>
              <a:t>Nullifier hash prevents same human from verifying twice (sybil resistance)</a:t>
            </a:r>
          </a:p>
        </p:txBody>
      </p:sp>
      <p:sp>
        <p:nvSpPr>
          <p:cNvPr id="26" name="TextBox 25"/>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104501"/>
            <a:ext cx="10058400" cy="731520"/>
          </a:xfrm>
          <a:prstGeom prst="rect">
            <a:avLst/>
          </a:prstGeom>
          <a:noFill/>
        </p:spPr>
        <p:txBody>
          <a:bodyPr wrap="square">
            <a:spAutoFit/>
          </a:bodyPr>
          <a:lstStyle/>
          <a:p>
            <a:pPr algn="l">
              <a:defRPr sz="3600" b="1">
                <a:solidFill>
                  <a:srgbClr val="FFFFFF"/>
                </a:solidFill>
                <a:latin typeface="Calibri"/>
              </a:defRPr>
            </a:pPr>
            <a:r>
              <a:rPr dirty="0"/>
              <a:t>Architecture Overview</a:t>
            </a:r>
          </a:p>
        </p:txBody>
      </p:sp>
      <p:sp>
        <p:nvSpPr>
          <p:cNvPr id="3" name="Rounded Rectangle 2"/>
          <p:cNvSpPr/>
          <p:nvPr/>
        </p:nvSpPr>
        <p:spPr>
          <a:xfrm>
            <a:off x="548640" y="744581"/>
            <a:ext cx="11064240" cy="1828800"/>
          </a:xfrm>
          <a:prstGeom prst="roundRect">
            <a:avLst>
              <a:gd name="adj" fmla="val 3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744581"/>
            <a:ext cx="91440" cy="1828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881741"/>
            <a:ext cx="3657600" cy="365760"/>
          </a:xfrm>
          <a:prstGeom prst="rect">
            <a:avLst/>
          </a:prstGeom>
          <a:noFill/>
        </p:spPr>
        <p:txBody>
          <a:bodyPr wrap="square">
            <a:spAutoFit/>
          </a:bodyPr>
          <a:lstStyle/>
          <a:p>
            <a:pPr algn="l">
              <a:defRPr sz="1800" b="1">
                <a:solidFill>
                  <a:srgbClr val="3B82F6"/>
                </a:solidFill>
                <a:latin typeface="Calibri"/>
              </a:defRPr>
            </a:pPr>
            <a:r>
              <a:t>Frontend (Next.js)</a:t>
            </a:r>
          </a:p>
        </p:txBody>
      </p:sp>
      <p:sp>
        <p:nvSpPr>
          <p:cNvPr id="6" name="TextBox 5"/>
          <p:cNvSpPr txBox="1"/>
          <p:nvPr/>
        </p:nvSpPr>
        <p:spPr>
          <a:xfrm>
            <a:off x="914400" y="1247501"/>
            <a:ext cx="5029200" cy="1188720"/>
          </a:xfrm>
          <a:prstGeom prst="rect">
            <a:avLst/>
          </a:prstGeom>
          <a:noFill/>
        </p:spPr>
        <p:txBody>
          <a:bodyPr wrap="square">
            <a:spAutoFit/>
          </a:bodyPr>
          <a:lstStyle/>
          <a:p>
            <a:pPr>
              <a:spcBef>
                <a:spcPts val="400"/>
              </a:spcBef>
              <a:spcAft>
                <a:spcPts val="800"/>
              </a:spcAft>
            </a:pPr>
            <a:r>
              <a:rPr sz="1200">
                <a:solidFill>
                  <a:srgbClr val="3B82F6"/>
                </a:solidFill>
                <a:latin typeface="Calibri"/>
              </a:rPr>
              <a:t>▸ </a:t>
            </a:r>
            <a:r>
              <a:rPr sz="1200">
                <a:solidFill>
                  <a:srgbClr val="CBD5E1"/>
                </a:solidFill>
                <a:latin typeface="Calibri"/>
              </a:rPr>
              <a:t>Wagmi + Viem for wallet &amp; contract interaction</a:t>
            </a:r>
          </a:p>
          <a:p>
            <a:pPr>
              <a:spcBef>
                <a:spcPts val="400"/>
              </a:spcBef>
              <a:spcAft>
                <a:spcPts val="800"/>
              </a:spcAft>
            </a:pPr>
            <a:r>
              <a:rPr sz="1200">
                <a:solidFill>
                  <a:srgbClr val="3B82F6"/>
                </a:solidFill>
                <a:latin typeface="Calibri"/>
              </a:rPr>
              <a:t>▸ </a:t>
            </a:r>
            <a:r>
              <a:rPr sz="1200">
                <a:solidFill>
                  <a:srgbClr val="CBD5E1"/>
                </a:solidFill>
                <a:latin typeface="Calibri"/>
              </a:rPr>
              <a:t>Chainlink Price Feed hook (ETH/USD live)</a:t>
            </a:r>
          </a:p>
          <a:p>
            <a:pPr>
              <a:spcBef>
                <a:spcPts val="400"/>
              </a:spcBef>
              <a:spcAft>
                <a:spcPts val="800"/>
              </a:spcAft>
            </a:pPr>
            <a:r>
              <a:rPr sz="1200">
                <a:solidFill>
                  <a:srgbClr val="3B82F6"/>
                </a:solidFill>
                <a:latin typeface="Calibri"/>
              </a:rPr>
              <a:t>▸ </a:t>
            </a:r>
            <a:r>
              <a:rPr sz="1200">
                <a:solidFill>
                  <a:srgbClr val="CBD5E1"/>
                </a:solidFill>
                <a:latin typeface="Calibri"/>
              </a:rPr>
              <a:t>WorldID MiniKit integration</a:t>
            </a:r>
          </a:p>
        </p:txBody>
      </p:sp>
      <p:sp>
        <p:nvSpPr>
          <p:cNvPr id="7" name="TextBox 6"/>
          <p:cNvSpPr txBox="1"/>
          <p:nvPr/>
        </p:nvSpPr>
        <p:spPr>
          <a:xfrm>
            <a:off x="6217920" y="1247501"/>
            <a:ext cx="5029200" cy="1188720"/>
          </a:xfrm>
          <a:prstGeom prst="rect">
            <a:avLst/>
          </a:prstGeom>
          <a:noFill/>
        </p:spPr>
        <p:txBody>
          <a:bodyPr wrap="square">
            <a:spAutoFit/>
          </a:bodyPr>
          <a:lstStyle/>
          <a:p>
            <a:pPr>
              <a:spcBef>
                <a:spcPts val="400"/>
              </a:spcBef>
              <a:spcAft>
                <a:spcPts val="800"/>
              </a:spcAft>
            </a:pPr>
            <a:r>
              <a:rPr sz="1200">
                <a:solidFill>
                  <a:srgbClr val="3B82F6"/>
                </a:solidFill>
                <a:latin typeface="Calibri"/>
              </a:rPr>
              <a:t>▸ </a:t>
            </a:r>
            <a:r>
              <a:rPr sz="1200">
                <a:solidFill>
                  <a:srgbClr val="CBD5E1"/>
                </a:solidFill>
                <a:latin typeface="Calibri"/>
              </a:rPr>
              <a:t>ERC-3643 compliance status hooks</a:t>
            </a:r>
          </a:p>
          <a:p>
            <a:pPr>
              <a:spcBef>
                <a:spcPts val="400"/>
              </a:spcBef>
              <a:spcAft>
                <a:spcPts val="800"/>
              </a:spcAft>
            </a:pPr>
            <a:r>
              <a:rPr sz="1200">
                <a:solidFill>
                  <a:srgbClr val="3B82F6"/>
                </a:solidFill>
                <a:latin typeface="Calibri"/>
              </a:rPr>
              <a:t>▸ </a:t>
            </a:r>
            <a:r>
              <a:rPr sz="1200">
                <a:solidFill>
                  <a:srgbClr val="CBD5E1"/>
                </a:solidFill>
                <a:latin typeface="Calibri"/>
              </a:rPr>
              <a:t>Role-based dashboards (Investor, Rentor, Renter, Admin)</a:t>
            </a:r>
          </a:p>
        </p:txBody>
      </p:sp>
      <p:sp>
        <p:nvSpPr>
          <p:cNvPr id="8" name="Rounded Rectangle 7"/>
          <p:cNvSpPr/>
          <p:nvPr/>
        </p:nvSpPr>
        <p:spPr>
          <a:xfrm>
            <a:off x="548640" y="2769322"/>
            <a:ext cx="11064240" cy="1828800"/>
          </a:xfrm>
          <a:prstGeom prst="roundRect">
            <a:avLst>
              <a:gd name="adj" fmla="val 3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769322"/>
            <a:ext cx="91440" cy="1828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906482"/>
            <a:ext cx="3657600" cy="365760"/>
          </a:xfrm>
          <a:prstGeom prst="rect">
            <a:avLst/>
          </a:prstGeom>
          <a:noFill/>
        </p:spPr>
        <p:txBody>
          <a:bodyPr wrap="square">
            <a:spAutoFit/>
          </a:bodyPr>
          <a:lstStyle/>
          <a:p>
            <a:pPr algn="l">
              <a:defRPr sz="1800" b="1">
                <a:solidFill>
                  <a:srgbClr val="22C55E"/>
                </a:solidFill>
                <a:latin typeface="Calibri"/>
              </a:defRPr>
            </a:pPr>
            <a:r>
              <a:t>Smart Contracts (Sepolia)</a:t>
            </a:r>
          </a:p>
        </p:txBody>
      </p:sp>
      <p:sp>
        <p:nvSpPr>
          <p:cNvPr id="11" name="TextBox 10"/>
          <p:cNvSpPr txBox="1"/>
          <p:nvPr/>
        </p:nvSpPr>
        <p:spPr>
          <a:xfrm>
            <a:off x="914400" y="3272242"/>
            <a:ext cx="5029200" cy="1188720"/>
          </a:xfrm>
          <a:prstGeom prst="rect">
            <a:avLst/>
          </a:prstGeom>
          <a:noFill/>
        </p:spPr>
        <p:txBody>
          <a:bodyPr wrap="square">
            <a:spAutoFit/>
          </a:bodyPr>
          <a:lstStyle/>
          <a:p>
            <a:pPr>
              <a:spcBef>
                <a:spcPts val="400"/>
              </a:spcBef>
              <a:spcAft>
                <a:spcPts val="800"/>
              </a:spcAft>
            </a:pPr>
            <a:r>
              <a:rPr sz="1200">
                <a:solidFill>
                  <a:srgbClr val="22C55E"/>
                </a:solidFill>
                <a:latin typeface="Calibri"/>
              </a:rPr>
              <a:t>▸ </a:t>
            </a:r>
            <a:r>
              <a:rPr sz="1200">
                <a:solidFill>
                  <a:srgbClr val="CBD5E1"/>
                </a:solidFill>
                <a:latin typeface="Calibri"/>
              </a:rPr>
              <a:t>34 contracts: VehicleNFT, PaymentEscrow, IdentityRegistry</a:t>
            </a:r>
          </a:p>
          <a:p>
            <a:pPr>
              <a:spcBef>
                <a:spcPts val="400"/>
              </a:spcBef>
              <a:spcAft>
                <a:spcPts val="800"/>
              </a:spcAft>
            </a:pPr>
            <a:r>
              <a:rPr sz="1200">
                <a:solidFill>
                  <a:srgbClr val="22C55E"/>
                </a:solidFill>
                <a:latin typeface="Calibri"/>
              </a:rPr>
              <a:t>▸ </a:t>
            </a:r>
            <a:r>
              <a:rPr sz="1200">
                <a:solidFill>
                  <a:srgbClr val="CBD5E1"/>
                </a:solidFill>
                <a:latin typeface="Calibri"/>
              </a:rPr>
              <a:t>ERC-3643 AssetToken &amp; RevenueToken factories</a:t>
            </a:r>
          </a:p>
          <a:p>
            <a:pPr>
              <a:spcBef>
                <a:spcPts val="400"/>
              </a:spcBef>
              <a:spcAft>
                <a:spcPts val="800"/>
              </a:spcAft>
            </a:pPr>
            <a:r>
              <a:rPr sz="1200">
                <a:solidFill>
                  <a:srgbClr val="22C55E"/>
                </a:solidFill>
                <a:latin typeface="Calibri"/>
              </a:rPr>
              <a:t>▸ </a:t>
            </a:r>
            <a:r>
              <a:rPr sz="1200">
                <a:solidFill>
                  <a:srgbClr val="CBD5E1"/>
                </a:solidFill>
                <a:latin typeface="Calibri"/>
              </a:rPr>
              <a:t>WorldIDVerifier — on-chain proof-of-personhood</a:t>
            </a:r>
          </a:p>
        </p:txBody>
      </p:sp>
      <p:sp>
        <p:nvSpPr>
          <p:cNvPr id="12" name="TextBox 11"/>
          <p:cNvSpPr txBox="1"/>
          <p:nvPr/>
        </p:nvSpPr>
        <p:spPr>
          <a:xfrm>
            <a:off x="6217920" y="3272242"/>
            <a:ext cx="5029200" cy="1188720"/>
          </a:xfrm>
          <a:prstGeom prst="rect">
            <a:avLst/>
          </a:prstGeom>
          <a:noFill/>
        </p:spPr>
        <p:txBody>
          <a:bodyPr wrap="square">
            <a:spAutoFit/>
          </a:bodyPr>
          <a:lstStyle/>
          <a:p>
            <a:pPr>
              <a:spcBef>
                <a:spcPts val="400"/>
              </a:spcBef>
              <a:spcAft>
                <a:spcPts val="800"/>
              </a:spcAft>
            </a:pPr>
            <a:r>
              <a:rPr sz="1200">
                <a:solidFill>
                  <a:srgbClr val="22C55E"/>
                </a:solidFill>
                <a:latin typeface="Calibri"/>
              </a:rPr>
              <a:t>▸ </a:t>
            </a:r>
            <a:r>
              <a:rPr sz="1200">
                <a:solidFill>
                  <a:srgbClr val="CBD5E1"/>
                </a:solidFill>
                <a:latin typeface="Calibri"/>
              </a:rPr>
              <a:t>5 CRE Receiver contracts (MockKeystoneForwarder)</a:t>
            </a:r>
          </a:p>
          <a:p>
            <a:pPr>
              <a:spcBef>
                <a:spcPts val="400"/>
              </a:spcBef>
              <a:spcAft>
                <a:spcPts val="800"/>
              </a:spcAft>
            </a:pPr>
            <a:r>
              <a:rPr sz="1200">
                <a:solidFill>
                  <a:srgbClr val="22C55E"/>
                </a:solidFill>
                <a:latin typeface="Calibri"/>
              </a:rPr>
              <a:t>▸ </a:t>
            </a:r>
            <a:r>
              <a:rPr sz="1200">
                <a:solidFill>
                  <a:srgbClr val="CBD5E1"/>
                </a:solidFill>
                <a:latin typeface="Calibri"/>
              </a:rPr>
              <a:t>RevenueDistributor — waterfall: 50% investors, 10% operator</a:t>
            </a:r>
          </a:p>
        </p:txBody>
      </p:sp>
      <p:sp>
        <p:nvSpPr>
          <p:cNvPr id="13" name="Rounded Rectangle 12"/>
          <p:cNvSpPr/>
          <p:nvPr/>
        </p:nvSpPr>
        <p:spPr>
          <a:xfrm>
            <a:off x="548640" y="4807130"/>
            <a:ext cx="11064240" cy="1828800"/>
          </a:xfrm>
          <a:prstGeom prst="roundRect">
            <a:avLst>
              <a:gd name="adj" fmla="val 3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4807130"/>
            <a:ext cx="91440" cy="1828800"/>
          </a:xfrm>
          <a:prstGeom prst="rect">
            <a:avLst/>
          </a:prstGeom>
          <a:solidFill>
            <a:srgbClr val="375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944290"/>
            <a:ext cx="3657600" cy="365760"/>
          </a:xfrm>
          <a:prstGeom prst="rect">
            <a:avLst/>
          </a:prstGeom>
          <a:noFill/>
        </p:spPr>
        <p:txBody>
          <a:bodyPr wrap="square">
            <a:spAutoFit/>
          </a:bodyPr>
          <a:lstStyle/>
          <a:p>
            <a:pPr algn="l">
              <a:defRPr sz="1800" b="1">
                <a:solidFill>
                  <a:srgbClr val="375BD2"/>
                </a:solidFill>
                <a:latin typeface="Calibri"/>
              </a:defRPr>
            </a:pPr>
            <a:r>
              <a:t>Chainlink CRE (Off-Chain)</a:t>
            </a:r>
          </a:p>
        </p:txBody>
      </p:sp>
      <p:sp>
        <p:nvSpPr>
          <p:cNvPr id="16" name="TextBox 15"/>
          <p:cNvSpPr txBox="1"/>
          <p:nvPr/>
        </p:nvSpPr>
        <p:spPr>
          <a:xfrm>
            <a:off x="914400" y="5310050"/>
            <a:ext cx="5029200" cy="1188720"/>
          </a:xfrm>
          <a:prstGeom prst="rect">
            <a:avLst/>
          </a:prstGeom>
          <a:noFill/>
        </p:spPr>
        <p:txBody>
          <a:bodyPr wrap="square">
            <a:spAutoFit/>
          </a:bodyPr>
          <a:lstStyle/>
          <a:p>
            <a:pPr>
              <a:spcBef>
                <a:spcPts val="400"/>
              </a:spcBef>
              <a:spcAft>
                <a:spcPts val="800"/>
              </a:spcAft>
            </a:pPr>
            <a:r>
              <a:rPr sz="1200">
                <a:solidFill>
                  <a:srgbClr val="375BD2"/>
                </a:solidFill>
                <a:latin typeface="Calibri"/>
              </a:rPr>
              <a:t>▸ </a:t>
            </a:r>
            <a:r>
              <a:rPr sz="1200">
                <a:solidFill>
                  <a:srgbClr val="CBD5E1"/>
                </a:solidFill>
                <a:latin typeface="Calibri"/>
              </a:rPr>
              <a:t>5 TypeScript workflows compiled to WASM</a:t>
            </a:r>
          </a:p>
          <a:p>
            <a:pPr>
              <a:spcBef>
                <a:spcPts val="400"/>
              </a:spcBef>
              <a:spcAft>
                <a:spcPts val="800"/>
              </a:spcAft>
            </a:pPr>
            <a:r>
              <a:rPr sz="1200">
                <a:solidFill>
                  <a:srgbClr val="375BD2"/>
                </a:solidFill>
                <a:latin typeface="Calibri"/>
              </a:rPr>
              <a:t>▸ </a:t>
            </a:r>
            <a:r>
              <a:rPr sz="1200">
                <a:solidFill>
                  <a:srgbClr val="CBD5E1"/>
                </a:solidFill>
                <a:latin typeface="Calibri"/>
              </a:rPr>
              <a:t>Run on DON nodes with consensus aggregation</a:t>
            </a:r>
          </a:p>
          <a:p>
            <a:pPr>
              <a:spcBef>
                <a:spcPts val="400"/>
              </a:spcBef>
              <a:spcAft>
                <a:spcPts val="800"/>
              </a:spcAft>
            </a:pPr>
            <a:r>
              <a:rPr sz="1200">
                <a:solidFill>
                  <a:srgbClr val="375BD2"/>
                </a:solidFill>
                <a:latin typeface="Calibri"/>
              </a:rPr>
              <a:t>▸ </a:t>
            </a:r>
            <a:r>
              <a:rPr sz="1200">
                <a:solidFill>
                  <a:srgbClr val="CBD5E1"/>
                </a:solidFill>
                <a:latin typeface="Calibri"/>
              </a:rPr>
              <a:t>Read on-chain state + call external APIs (NHTSA)</a:t>
            </a:r>
          </a:p>
        </p:txBody>
      </p:sp>
      <p:sp>
        <p:nvSpPr>
          <p:cNvPr id="17" name="TextBox 16"/>
          <p:cNvSpPr txBox="1"/>
          <p:nvPr/>
        </p:nvSpPr>
        <p:spPr>
          <a:xfrm>
            <a:off x="6217920" y="5310050"/>
            <a:ext cx="5029200" cy="1188720"/>
          </a:xfrm>
          <a:prstGeom prst="rect">
            <a:avLst/>
          </a:prstGeom>
          <a:noFill/>
        </p:spPr>
        <p:txBody>
          <a:bodyPr wrap="square">
            <a:spAutoFit/>
          </a:bodyPr>
          <a:lstStyle/>
          <a:p>
            <a:pPr>
              <a:spcBef>
                <a:spcPts val="400"/>
              </a:spcBef>
              <a:spcAft>
                <a:spcPts val="800"/>
              </a:spcAft>
            </a:pPr>
            <a:r>
              <a:rPr sz="1200">
                <a:solidFill>
                  <a:srgbClr val="375BD2"/>
                </a:solidFill>
                <a:latin typeface="Calibri"/>
              </a:rPr>
              <a:t>▸ </a:t>
            </a:r>
            <a:r>
              <a:rPr sz="1200">
                <a:solidFill>
                  <a:srgbClr val="CBD5E1"/>
                </a:solidFill>
                <a:latin typeface="Calibri"/>
              </a:rPr>
              <a:t>Submit ABI-encoded reports to Receiver contracts</a:t>
            </a:r>
          </a:p>
          <a:p>
            <a:pPr>
              <a:spcBef>
                <a:spcPts val="400"/>
              </a:spcBef>
              <a:spcAft>
                <a:spcPts val="800"/>
              </a:spcAft>
            </a:pPr>
            <a:r>
              <a:rPr sz="1200">
                <a:solidFill>
                  <a:srgbClr val="375BD2"/>
                </a:solidFill>
                <a:latin typeface="Calibri"/>
              </a:rPr>
              <a:t>▸ </a:t>
            </a:r>
            <a:r>
              <a:rPr sz="1200">
                <a:solidFill>
                  <a:srgbClr val="CBD5E1"/>
                </a:solidFill>
                <a:latin typeface="Calibri"/>
              </a:rPr>
              <a:t>Replace: campaignScheduler, bookingScheduler, revenueSyncService</a:t>
            </a:r>
          </a:p>
        </p:txBody>
      </p:sp>
      <p:sp>
        <p:nvSpPr>
          <p:cNvPr id="18" name="TextBox 17"/>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Smart Contracts on Sepolia</a:t>
            </a:r>
          </a:p>
        </p:txBody>
      </p:sp>
      <p:sp>
        <p:nvSpPr>
          <p:cNvPr id="3" name="TextBox 2"/>
          <p:cNvSpPr txBox="1"/>
          <p:nvPr/>
        </p:nvSpPr>
        <p:spPr>
          <a:xfrm>
            <a:off x="731520" y="1097280"/>
            <a:ext cx="10058400" cy="365760"/>
          </a:xfrm>
          <a:prstGeom prst="rect">
            <a:avLst/>
          </a:prstGeom>
          <a:noFill/>
        </p:spPr>
        <p:txBody>
          <a:bodyPr wrap="square">
            <a:spAutoFit/>
          </a:bodyPr>
          <a:lstStyle/>
          <a:p>
            <a:pPr algn="l">
              <a:defRPr sz="1400" b="0">
                <a:solidFill>
                  <a:srgbClr val="94A3B8"/>
                </a:solidFill>
                <a:latin typeface="Calibri"/>
              </a:defRPr>
            </a:pPr>
            <a:r>
              <a:t>34 contracts deployed — key contracts shown below</a:t>
            </a:r>
          </a:p>
        </p:txBody>
      </p:sp>
      <p:sp>
        <p:nvSpPr>
          <p:cNvPr id="4" name="TextBox 3"/>
          <p:cNvSpPr txBox="1"/>
          <p:nvPr/>
        </p:nvSpPr>
        <p:spPr>
          <a:xfrm>
            <a:off x="548640" y="1645920"/>
            <a:ext cx="5303520" cy="365760"/>
          </a:xfrm>
          <a:prstGeom prst="rect">
            <a:avLst/>
          </a:prstGeom>
          <a:noFill/>
        </p:spPr>
        <p:txBody>
          <a:bodyPr wrap="square">
            <a:spAutoFit/>
          </a:bodyPr>
          <a:lstStyle/>
          <a:p>
            <a:pPr algn="l">
              <a:defRPr sz="1600" b="1">
                <a:solidFill>
                  <a:srgbClr val="22C55E"/>
                </a:solidFill>
                <a:latin typeface="Calibri"/>
              </a:defRPr>
            </a:pPr>
            <a:r>
              <a:t>Identity &amp; Compliance</a:t>
            </a:r>
          </a:p>
        </p:txBody>
      </p:sp>
      <p:sp>
        <p:nvSpPr>
          <p:cNvPr id="5" name="Rounded Rectangle 4"/>
          <p:cNvSpPr/>
          <p:nvPr/>
        </p:nvSpPr>
        <p:spPr>
          <a:xfrm>
            <a:off x="548640" y="205740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075688"/>
            <a:ext cx="2011680" cy="228600"/>
          </a:xfrm>
          <a:prstGeom prst="rect">
            <a:avLst/>
          </a:prstGeom>
          <a:noFill/>
        </p:spPr>
        <p:txBody>
          <a:bodyPr wrap="square">
            <a:spAutoFit/>
          </a:bodyPr>
          <a:lstStyle/>
          <a:p>
            <a:pPr algn="l">
              <a:defRPr sz="1200" b="1">
                <a:solidFill>
                  <a:srgbClr val="FFFFFF"/>
                </a:solidFill>
                <a:latin typeface="Calibri"/>
              </a:defRPr>
            </a:pPr>
            <a:r>
              <a:t>IdentityRegistry</a:t>
            </a:r>
          </a:p>
        </p:txBody>
      </p:sp>
      <p:sp>
        <p:nvSpPr>
          <p:cNvPr id="7" name="TextBox 6"/>
          <p:cNvSpPr txBox="1"/>
          <p:nvPr/>
        </p:nvSpPr>
        <p:spPr>
          <a:xfrm>
            <a:off x="2743200" y="2075688"/>
            <a:ext cx="1371600" cy="228600"/>
          </a:xfrm>
          <a:prstGeom prst="rect">
            <a:avLst/>
          </a:prstGeom>
          <a:noFill/>
        </p:spPr>
        <p:txBody>
          <a:bodyPr wrap="square">
            <a:spAutoFit/>
          </a:bodyPr>
          <a:lstStyle/>
          <a:p>
            <a:pPr algn="l">
              <a:defRPr sz="1000" b="0">
                <a:solidFill>
                  <a:srgbClr val="94A3B8"/>
                </a:solidFill>
                <a:latin typeface="Courier New"/>
              </a:defRPr>
            </a:pPr>
            <a:r>
              <a:t>0x188C...927A</a:t>
            </a:r>
          </a:p>
        </p:txBody>
      </p:sp>
      <p:sp>
        <p:nvSpPr>
          <p:cNvPr id="8" name="TextBox 7"/>
          <p:cNvSpPr txBox="1"/>
          <p:nvPr/>
        </p:nvSpPr>
        <p:spPr>
          <a:xfrm>
            <a:off x="685800" y="2313432"/>
            <a:ext cx="5029200" cy="228600"/>
          </a:xfrm>
          <a:prstGeom prst="rect">
            <a:avLst/>
          </a:prstGeom>
          <a:noFill/>
        </p:spPr>
        <p:txBody>
          <a:bodyPr wrap="square">
            <a:spAutoFit/>
          </a:bodyPr>
          <a:lstStyle/>
          <a:p>
            <a:pPr algn="l">
              <a:defRPr sz="1000" b="0">
                <a:solidFill>
                  <a:srgbClr val="CBD5E1"/>
                </a:solidFill>
                <a:latin typeface="Calibri"/>
              </a:defRPr>
            </a:pPr>
            <a:r>
              <a:t>ERC-3643 on-chain identity</a:t>
            </a:r>
          </a:p>
        </p:txBody>
      </p:sp>
      <p:sp>
        <p:nvSpPr>
          <p:cNvPr id="9" name="Rounded Rectangle 8"/>
          <p:cNvSpPr/>
          <p:nvPr/>
        </p:nvSpPr>
        <p:spPr>
          <a:xfrm>
            <a:off x="548640" y="265176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670048"/>
            <a:ext cx="2011680" cy="228600"/>
          </a:xfrm>
          <a:prstGeom prst="rect">
            <a:avLst/>
          </a:prstGeom>
          <a:noFill/>
        </p:spPr>
        <p:txBody>
          <a:bodyPr wrap="square">
            <a:spAutoFit/>
          </a:bodyPr>
          <a:lstStyle/>
          <a:p>
            <a:pPr algn="l">
              <a:defRPr sz="1200" b="1">
                <a:solidFill>
                  <a:srgbClr val="FFFFFF"/>
                </a:solidFill>
                <a:latin typeface="Calibri"/>
              </a:defRPr>
            </a:pPr>
            <a:r>
              <a:t>WorldIDVerifier</a:t>
            </a:r>
          </a:p>
        </p:txBody>
      </p:sp>
      <p:sp>
        <p:nvSpPr>
          <p:cNvPr id="11" name="TextBox 10"/>
          <p:cNvSpPr txBox="1"/>
          <p:nvPr/>
        </p:nvSpPr>
        <p:spPr>
          <a:xfrm>
            <a:off x="2743200" y="2670048"/>
            <a:ext cx="1371600" cy="228600"/>
          </a:xfrm>
          <a:prstGeom prst="rect">
            <a:avLst/>
          </a:prstGeom>
          <a:noFill/>
        </p:spPr>
        <p:txBody>
          <a:bodyPr wrap="square">
            <a:spAutoFit/>
          </a:bodyPr>
          <a:lstStyle/>
          <a:p>
            <a:pPr algn="l">
              <a:defRPr sz="1000" b="0">
                <a:solidFill>
                  <a:srgbClr val="94A3B8"/>
                </a:solidFill>
                <a:latin typeface="Courier New"/>
              </a:defRPr>
            </a:pPr>
            <a:r>
              <a:t>0x838C...0363</a:t>
            </a:r>
          </a:p>
        </p:txBody>
      </p:sp>
      <p:sp>
        <p:nvSpPr>
          <p:cNvPr id="12" name="TextBox 11"/>
          <p:cNvSpPr txBox="1"/>
          <p:nvPr/>
        </p:nvSpPr>
        <p:spPr>
          <a:xfrm>
            <a:off x="685800" y="2907792"/>
            <a:ext cx="5029200" cy="228600"/>
          </a:xfrm>
          <a:prstGeom prst="rect">
            <a:avLst/>
          </a:prstGeom>
          <a:noFill/>
        </p:spPr>
        <p:txBody>
          <a:bodyPr wrap="square">
            <a:spAutoFit/>
          </a:bodyPr>
          <a:lstStyle/>
          <a:p>
            <a:pPr algn="l">
              <a:defRPr sz="1000" b="0">
                <a:solidFill>
                  <a:srgbClr val="CBD5E1"/>
                </a:solidFill>
                <a:latin typeface="Calibri"/>
              </a:defRPr>
            </a:pPr>
            <a:r>
              <a:t>Proof-of-personhood (WorldID)</a:t>
            </a:r>
          </a:p>
        </p:txBody>
      </p:sp>
      <p:sp>
        <p:nvSpPr>
          <p:cNvPr id="13" name="Rounded Rectangle 12"/>
          <p:cNvSpPr/>
          <p:nvPr/>
        </p:nvSpPr>
        <p:spPr>
          <a:xfrm>
            <a:off x="548640" y="324612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264408"/>
            <a:ext cx="2011680" cy="228600"/>
          </a:xfrm>
          <a:prstGeom prst="rect">
            <a:avLst/>
          </a:prstGeom>
          <a:noFill/>
        </p:spPr>
        <p:txBody>
          <a:bodyPr wrap="square">
            <a:spAutoFit/>
          </a:bodyPr>
          <a:lstStyle/>
          <a:p>
            <a:pPr algn="l">
              <a:defRPr sz="1200" b="1">
                <a:solidFill>
                  <a:srgbClr val="FFFFFF"/>
                </a:solidFill>
                <a:latin typeface="Calibri"/>
              </a:defRPr>
            </a:pPr>
            <a:r>
              <a:t>ComplianceRules</a:t>
            </a:r>
          </a:p>
        </p:txBody>
      </p:sp>
      <p:sp>
        <p:nvSpPr>
          <p:cNvPr id="15" name="TextBox 14"/>
          <p:cNvSpPr txBox="1"/>
          <p:nvPr/>
        </p:nvSpPr>
        <p:spPr>
          <a:xfrm>
            <a:off x="2743200" y="3264408"/>
            <a:ext cx="1371600" cy="228600"/>
          </a:xfrm>
          <a:prstGeom prst="rect">
            <a:avLst/>
          </a:prstGeom>
          <a:noFill/>
        </p:spPr>
        <p:txBody>
          <a:bodyPr wrap="square">
            <a:spAutoFit/>
          </a:bodyPr>
          <a:lstStyle/>
          <a:p>
            <a:pPr algn="l">
              <a:defRPr sz="1000" b="0">
                <a:solidFill>
                  <a:srgbClr val="94A3B8"/>
                </a:solidFill>
                <a:latin typeface="Courier New"/>
              </a:defRPr>
            </a:pPr>
            <a:r>
              <a:t>0xe81a...2C0f</a:t>
            </a:r>
          </a:p>
        </p:txBody>
      </p:sp>
      <p:sp>
        <p:nvSpPr>
          <p:cNvPr id="16" name="TextBox 15"/>
          <p:cNvSpPr txBox="1"/>
          <p:nvPr/>
        </p:nvSpPr>
        <p:spPr>
          <a:xfrm>
            <a:off x="685800" y="3502152"/>
            <a:ext cx="5029200" cy="228600"/>
          </a:xfrm>
          <a:prstGeom prst="rect">
            <a:avLst/>
          </a:prstGeom>
          <a:noFill/>
        </p:spPr>
        <p:txBody>
          <a:bodyPr wrap="square">
            <a:spAutoFit/>
          </a:bodyPr>
          <a:lstStyle/>
          <a:p>
            <a:pPr algn="l">
              <a:defRPr sz="1000" b="0">
                <a:solidFill>
                  <a:srgbClr val="CBD5E1"/>
                </a:solidFill>
                <a:latin typeface="Calibri"/>
              </a:defRPr>
            </a:pPr>
            <a:r>
              <a:t>Transfer restriction enforcement</a:t>
            </a:r>
          </a:p>
        </p:txBody>
      </p:sp>
      <p:sp>
        <p:nvSpPr>
          <p:cNvPr id="17" name="TextBox 16"/>
          <p:cNvSpPr txBox="1"/>
          <p:nvPr/>
        </p:nvSpPr>
        <p:spPr>
          <a:xfrm>
            <a:off x="6309360" y="1645920"/>
            <a:ext cx="5303520" cy="365760"/>
          </a:xfrm>
          <a:prstGeom prst="rect">
            <a:avLst/>
          </a:prstGeom>
          <a:noFill/>
        </p:spPr>
        <p:txBody>
          <a:bodyPr wrap="square">
            <a:spAutoFit/>
          </a:bodyPr>
          <a:lstStyle/>
          <a:p>
            <a:pPr algn="l">
              <a:defRPr sz="1600" b="1">
                <a:solidFill>
                  <a:srgbClr val="3B82F6"/>
                </a:solidFill>
                <a:latin typeface="Calibri"/>
              </a:defRPr>
            </a:pPr>
            <a:r>
              <a:t>Tokens &amp; Revenue</a:t>
            </a:r>
          </a:p>
        </p:txBody>
      </p:sp>
      <p:sp>
        <p:nvSpPr>
          <p:cNvPr id="18" name="Rounded Rectangle 17"/>
          <p:cNvSpPr/>
          <p:nvPr/>
        </p:nvSpPr>
        <p:spPr>
          <a:xfrm>
            <a:off x="6309360" y="205740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075688"/>
            <a:ext cx="2011680" cy="228600"/>
          </a:xfrm>
          <a:prstGeom prst="rect">
            <a:avLst/>
          </a:prstGeom>
          <a:noFill/>
        </p:spPr>
        <p:txBody>
          <a:bodyPr wrap="square">
            <a:spAutoFit/>
          </a:bodyPr>
          <a:lstStyle/>
          <a:p>
            <a:pPr algn="l">
              <a:defRPr sz="1200" b="1">
                <a:solidFill>
                  <a:srgbClr val="FFFFFF"/>
                </a:solidFill>
                <a:latin typeface="Calibri"/>
              </a:defRPr>
            </a:pPr>
            <a:r>
              <a:t>AssetTokenFactory</a:t>
            </a:r>
          </a:p>
        </p:txBody>
      </p:sp>
      <p:sp>
        <p:nvSpPr>
          <p:cNvPr id="20" name="TextBox 19"/>
          <p:cNvSpPr txBox="1"/>
          <p:nvPr/>
        </p:nvSpPr>
        <p:spPr>
          <a:xfrm>
            <a:off x="8503920" y="2075688"/>
            <a:ext cx="1371600" cy="228600"/>
          </a:xfrm>
          <a:prstGeom prst="rect">
            <a:avLst/>
          </a:prstGeom>
          <a:noFill/>
        </p:spPr>
        <p:txBody>
          <a:bodyPr wrap="square">
            <a:spAutoFit/>
          </a:bodyPr>
          <a:lstStyle/>
          <a:p>
            <a:pPr algn="l">
              <a:defRPr sz="1000" b="0">
                <a:solidFill>
                  <a:srgbClr val="94A3B8"/>
                </a:solidFill>
                <a:latin typeface="Courier New"/>
              </a:defRPr>
            </a:pPr>
            <a:r>
              <a:t>0x1EEE...38ef</a:t>
            </a:r>
          </a:p>
        </p:txBody>
      </p:sp>
      <p:sp>
        <p:nvSpPr>
          <p:cNvPr id="21" name="TextBox 20"/>
          <p:cNvSpPr txBox="1"/>
          <p:nvPr/>
        </p:nvSpPr>
        <p:spPr>
          <a:xfrm>
            <a:off x="6446520" y="2313432"/>
            <a:ext cx="5029200" cy="228600"/>
          </a:xfrm>
          <a:prstGeom prst="rect">
            <a:avLst/>
          </a:prstGeom>
          <a:noFill/>
        </p:spPr>
        <p:txBody>
          <a:bodyPr wrap="square">
            <a:spAutoFit/>
          </a:bodyPr>
          <a:lstStyle/>
          <a:p>
            <a:pPr algn="l">
              <a:defRPr sz="1000" b="0">
                <a:solidFill>
                  <a:srgbClr val="CBD5E1"/>
                </a:solidFill>
                <a:latin typeface="Calibri"/>
              </a:defRPr>
            </a:pPr>
            <a:r>
              <a:t>ERC-3643 ownership tokens</a:t>
            </a:r>
          </a:p>
        </p:txBody>
      </p:sp>
      <p:sp>
        <p:nvSpPr>
          <p:cNvPr id="22" name="Rounded Rectangle 21"/>
          <p:cNvSpPr/>
          <p:nvPr/>
        </p:nvSpPr>
        <p:spPr>
          <a:xfrm>
            <a:off x="6309360" y="265176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2670048"/>
            <a:ext cx="2011680" cy="228600"/>
          </a:xfrm>
          <a:prstGeom prst="rect">
            <a:avLst/>
          </a:prstGeom>
          <a:noFill/>
        </p:spPr>
        <p:txBody>
          <a:bodyPr wrap="square">
            <a:spAutoFit/>
          </a:bodyPr>
          <a:lstStyle/>
          <a:p>
            <a:pPr algn="l">
              <a:defRPr sz="1200" b="1">
                <a:solidFill>
                  <a:srgbClr val="FFFFFF"/>
                </a:solidFill>
                <a:latin typeface="Calibri"/>
              </a:defRPr>
            </a:pPr>
            <a:r>
              <a:t>RevenueTokenFactory</a:t>
            </a:r>
          </a:p>
        </p:txBody>
      </p:sp>
      <p:sp>
        <p:nvSpPr>
          <p:cNvPr id="24" name="TextBox 23"/>
          <p:cNvSpPr txBox="1"/>
          <p:nvPr/>
        </p:nvSpPr>
        <p:spPr>
          <a:xfrm>
            <a:off x="8503920" y="2670048"/>
            <a:ext cx="1371600" cy="228600"/>
          </a:xfrm>
          <a:prstGeom prst="rect">
            <a:avLst/>
          </a:prstGeom>
          <a:noFill/>
        </p:spPr>
        <p:txBody>
          <a:bodyPr wrap="square">
            <a:spAutoFit/>
          </a:bodyPr>
          <a:lstStyle/>
          <a:p>
            <a:pPr algn="l">
              <a:defRPr sz="1000" b="0">
                <a:solidFill>
                  <a:srgbClr val="94A3B8"/>
                </a:solidFill>
                <a:latin typeface="Courier New"/>
              </a:defRPr>
            </a:pPr>
            <a:r>
              <a:t>0x1eDE...206C</a:t>
            </a:r>
          </a:p>
        </p:txBody>
      </p:sp>
      <p:sp>
        <p:nvSpPr>
          <p:cNvPr id="25" name="TextBox 24"/>
          <p:cNvSpPr txBox="1"/>
          <p:nvPr/>
        </p:nvSpPr>
        <p:spPr>
          <a:xfrm>
            <a:off x="6446520" y="2907792"/>
            <a:ext cx="5029200" cy="228600"/>
          </a:xfrm>
          <a:prstGeom prst="rect">
            <a:avLst/>
          </a:prstGeom>
          <a:noFill/>
        </p:spPr>
        <p:txBody>
          <a:bodyPr wrap="square">
            <a:spAutoFit/>
          </a:bodyPr>
          <a:lstStyle/>
          <a:p>
            <a:pPr algn="l">
              <a:defRPr sz="1000" b="0">
                <a:solidFill>
                  <a:srgbClr val="CBD5E1"/>
                </a:solidFill>
                <a:latin typeface="Calibri"/>
              </a:defRPr>
            </a:pPr>
            <a:r>
              <a:t>ERC-3643 income rights</a:t>
            </a:r>
          </a:p>
        </p:txBody>
      </p:sp>
      <p:sp>
        <p:nvSpPr>
          <p:cNvPr id="26" name="Rounded Rectangle 25"/>
          <p:cNvSpPr/>
          <p:nvPr/>
        </p:nvSpPr>
        <p:spPr>
          <a:xfrm>
            <a:off x="6309360" y="324612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3264408"/>
            <a:ext cx="2011680" cy="228600"/>
          </a:xfrm>
          <a:prstGeom prst="rect">
            <a:avLst/>
          </a:prstGeom>
          <a:noFill/>
        </p:spPr>
        <p:txBody>
          <a:bodyPr wrap="square">
            <a:spAutoFit/>
          </a:bodyPr>
          <a:lstStyle/>
          <a:p>
            <a:pPr algn="l">
              <a:defRPr sz="1200" b="1">
                <a:solidFill>
                  <a:srgbClr val="FFFFFF"/>
                </a:solidFill>
                <a:latin typeface="Calibri"/>
              </a:defRPr>
            </a:pPr>
            <a:r>
              <a:t>RevenueDistributor</a:t>
            </a:r>
          </a:p>
        </p:txBody>
      </p:sp>
      <p:sp>
        <p:nvSpPr>
          <p:cNvPr id="28" name="TextBox 27"/>
          <p:cNvSpPr txBox="1"/>
          <p:nvPr/>
        </p:nvSpPr>
        <p:spPr>
          <a:xfrm>
            <a:off x="8503920" y="3264408"/>
            <a:ext cx="1371600" cy="228600"/>
          </a:xfrm>
          <a:prstGeom prst="rect">
            <a:avLst/>
          </a:prstGeom>
          <a:noFill/>
        </p:spPr>
        <p:txBody>
          <a:bodyPr wrap="square">
            <a:spAutoFit/>
          </a:bodyPr>
          <a:lstStyle/>
          <a:p>
            <a:pPr algn="l">
              <a:defRPr sz="1000" b="0">
                <a:solidFill>
                  <a:srgbClr val="94A3B8"/>
                </a:solidFill>
                <a:latin typeface="Courier New"/>
              </a:defRPr>
            </a:pPr>
            <a:r>
              <a:t>0xD08b...538D</a:t>
            </a:r>
          </a:p>
        </p:txBody>
      </p:sp>
      <p:sp>
        <p:nvSpPr>
          <p:cNvPr id="29" name="TextBox 28"/>
          <p:cNvSpPr txBox="1"/>
          <p:nvPr/>
        </p:nvSpPr>
        <p:spPr>
          <a:xfrm>
            <a:off x="6446520" y="3502152"/>
            <a:ext cx="5029200" cy="228600"/>
          </a:xfrm>
          <a:prstGeom prst="rect">
            <a:avLst/>
          </a:prstGeom>
          <a:noFill/>
        </p:spPr>
        <p:txBody>
          <a:bodyPr wrap="square">
            <a:spAutoFit/>
          </a:bodyPr>
          <a:lstStyle/>
          <a:p>
            <a:pPr algn="l">
              <a:defRPr sz="1000" b="0">
                <a:solidFill>
                  <a:srgbClr val="CBD5E1"/>
                </a:solidFill>
                <a:latin typeface="Calibri"/>
              </a:defRPr>
            </a:pPr>
            <a:r>
              <a:t>Waterfall distribution engine</a:t>
            </a:r>
          </a:p>
        </p:txBody>
      </p:sp>
      <p:sp>
        <p:nvSpPr>
          <p:cNvPr id="30" name="TextBox 29"/>
          <p:cNvSpPr txBox="1"/>
          <p:nvPr/>
        </p:nvSpPr>
        <p:spPr>
          <a:xfrm>
            <a:off x="548640" y="4206240"/>
            <a:ext cx="5303520" cy="365760"/>
          </a:xfrm>
          <a:prstGeom prst="rect">
            <a:avLst/>
          </a:prstGeom>
          <a:noFill/>
        </p:spPr>
        <p:txBody>
          <a:bodyPr wrap="square">
            <a:spAutoFit/>
          </a:bodyPr>
          <a:lstStyle/>
          <a:p>
            <a:pPr algn="l">
              <a:defRPr sz="1600" b="1">
                <a:solidFill>
                  <a:srgbClr val="F97316"/>
                </a:solidFill>
                <a:latin typeface="Calibri"/>
              </a:defRPr>
            </a:pPr>
            <a:r>
              <a:t>Vehicle &amp; Payments</a:t>
            </a:r>
          </a:p>
        </p:txBody>
      </p:sp>
      <p:sp>
        <p:nvSpPr>
          <p:cNvPr id="31" name="Rounded Rectangle 30"/>
          <p:cNvSpPr/>
          <p:nvPr/>
        </p:nvSpPr>
        <p:spPr>
          <a:xfrm>
            <a:off x="548640" y="461772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 y="4636008"/>
            <a:ext cx="2011680" cy="228600"/>
          </a:xfrm>
          <a:prstGeom prst="rect">
            <a:avLst/>
          </a:prstGeom>
          <a:noFill/>
        </p:spPr>
        <p:txBody>
          <a:bodyPr wrap="square">
            <a:spAutoFit/>
          </a:bodyPr>
          <a:lstStyle/>
          <a:p>
            <a:pPr algn="l">
              <a:defRPr sz="1200" b="1">
                <a:solidFill>
                  <a:srgbClr val="FFFFFF"/>
                </a:solidFill>
                <a:latin typeface="Calibri"/>
              </a:defRPr>
            </a:pPr>
            <a:r>
              <a:t>VehicleNFT</a:t>
            </a:r>
          </a:p>
        </p:txBody>
      </p:sp>
      <p:sp>
        <p:nvSpPr>
          <p:cNvPr id="33" name="TextBox 32"/>
          <p:cNvSpPr txBox="1"/>
          <p:nvPr/>
        </p:nvSpPr>
        <p:spPr>
          <a:xfrm>
            <a:off x="2743200" y="4636008"/>
            <a:ext cx="1371600" cy="228600"/>
          </a:xfrm>
          <a:prstGeom prst="rect">
            <a:avLst/>
          </a:prstGeom>
          <a:noFill/>
        </p:spPr>
        <p:txBody>
          <a:bodyPr wrap="square">
            <a:spAutoFit/>
          </a:bodyPr>
          <a:lstStyle/>
          <a:p>
            <a:pPr algn="l">
              <a:defRPr sz="1000" b="0">
                <a:solidFill>
                  <a:srgbClr val="94A3B8"/>
                </a:solidFill>
                <a:latin typeface="Courier New"/>
              </a:defRPr>
            </a:pPr>
            <a:r>
              <a:t>0xfcE0...1814</a:t>
            </a:r>
          </a:p>
        </p:txBody>
      </p:sp>
      <p:sp>
        <p:nvSpPr>
          <p:cNvPr id="34" name="TextBox 33"/>
          <p:cNvSpPr txBox="1"/>
          <p:nvPr/>
        </p:nvSpPr>
        <p:spPr>
          <a:xfrm>
            <a:off x="685800" y="4873752"/>
            <a:ext cx="5029200" cy="228600"/>
          </a:xfrm>
          <a:prstGeom prst="rect">
            <a:avLst/>
          </a:prstGeom>
          <a:noFill/>
        </p:spPr>
        <p:txBody>
          <a:bodyPr wrap="square">
            <a:spAutoFit/>
          </a:bodyPr>
          <a:lstStyle/>
          <a:p>
            <a:pPr algn="l">
              <a:defRPr sz="1000" b="0">
                <a:solidFill>
                  <a:srgbClr val="CBD5E1"/>
                </a:solidFill>
                <a:latin typeface="Calibri"/>
              </a:defRPr>
            </a:pPr>
            <a:r>
              <a:t>ERC-721 vehicle registry</a:t>
            </a:r>
          </a:p>
        </p:txBody>
      </p:sp>
      <p:sp>
        <p:nvSpPr>
          <p:cNvPr id="35" name="Rounded Rectangle 34"/>
          <p:cNvSpPr/>
          <p:nvPr/>
        </p:nvSpPr>
        <p:spPr>
          <a:xfrm>
            <a:off x="548640" y="521208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 y="5230368"/>
            <a:ext cx="2011680" cy="228600"/>
          </a:xfrm>
          <a:prstGeom prst="rect">
            <a:avLst/>
          </a:prstGeom>
          <a:noFill/>
        </p:spPr>
        <p:txBody>
          <a:bodyPr wrap="square">
            <a:spAutoFit/>
          </a:bodyPr>
          <a:lstStyle/>
          <a:p>
            <a:pPr algn="l">
              <a:defRPr sz="1200" b="1">
                <a:solidFill>
                  <a:srgbClr val="FFFFFF"/>
                </a:solidFill>
                <a:latin typeface="Calibri"/>
              </a:defRPr>
            </a:pPr>
            <a:r>
              <a:t>InvestmentEscrow</a:t>
            </a:r>
          </a:p>
        </p:txBody>
      </p:sp>
      <p:sp>
        <p:nvSpPr>
          <p:cNvPr id="37" name="TextBox 36"/>
          <p:cNvSpPr txBox="1"/>
          <p:nvPr/>
        </p:nvSpPr>
        <p:spPr>
          <a:xfrm>
            <a:off x="2743200" y="5230368"/>
            <a:ext cx="1371600" cy="228600"/>
          </a:xfrm>
          <a:prstGeom prst="rect">
            <a:avLst/>
          </a:prstGeom>
          <a:noFill/>
        </p:spPr>
        <p:txBody>
          <a:bodyPr wrap="square">
            <a:spAutoFit/>
          </a:bodyPr>
          <a:lstStyle/>
          <a:p>
            <a:pPr algn="l">
              <a:defRPr sz="1000" b="0">
                <a:solidFill>
                  <a:srgbClr val="94A3B8"/>
                </a:solidFill>
                <a:latin typeface="Courier New"/>
              </a:defRPr>
            </a:pPr>
            <a:r>
              <a:t>0x8e4d...bc89</a:t>
            </a:r>
          </a:p>
        </p:txBody>
      </p:sp>
      <p:sp>
        <p:nvSpPr>
          <p:cNvPr id="38" name="TextBox 37"/>
          <p:cNvSpPr txBox="1"/>
          <p:nvPr/>
        </p:nvSpPr>
        <p:spPr>
          <a:xfrm>
            <a:off x="685800" y="5468112"/>
            <a:ext cx="5029200" cy="228600"/>
          </a:xfrm>
          <a:prstGeom prst="rect">
            <a:avLst/>
          </a:prstGeom>
          <a:noFill/>
        </p:spPr>
        <p:txBody>
          <a:bodyPr wrap="square">
            <a:spAutoFit/>
          </a:bodyPr>
          <a:lstStyle/>
          <a:p>
            <a:pPr algn="l">
              <a:defRPr sz="1000" b="0">
                <a:solidFill>
                  <a:srgbClr val="CBD5E1"/>
                </a:solidFill>
                <a:latin typeface="Calibri"/>
              </a:defRPr>
            </a:pPr>
            <a:r>
              <a:t>Milestone-locked escrow</a:t>
            </a:r>
          </a:p>
        </p:txBody>
      </p:sp>
      <p:sp>
        <p:nvSpPr>
          <p:cNvPr id="39" name="Rounded Rectangle 38"/>
          <p:cNvSpPr/>
          <p:nvPr/>
        </p:nvSpPr>
        <p:spPr>
          <a:xfrm>
            <a:off x="548640" y="580644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5800" y="5824728"/>
            <a:ext cx="2011680" cy="228600"/>
          </a:xfrm>
          <a:prstGeom prst="rect">
            <a:avLst/>
          </a:prstGeom>
          <a:noFill/>
        </p:spPr>
        <p:txBody>
          <a:bodyPr wrap="square">
            <a:spAutoFit/>
          </a:bodyPr>
          <a:lstStyle/>
          <a:p>
            <a:pPr algn="l">
              <a:defRPr sz="1200" b="1">
                <a:solidFill>
                  <a:srgbClr val="FFFFFF"/>
                </a:solidFill>
                <a:latin typeface="Calibri"/>
              </a:defRPr>
            </a:pPr>
            <a:r>
              <a:t>RentalPaymentProtocol</a:t>
            </a:r>
          </a:p>
        </p:txBody>
      </p:sp>
      <p:sp>
        <p:nvSpPr>
          <p:cNvPr id="41" name="TextBox 40"/>
          <p:cNvSpPr txBox="1"/>
          <p:nvPr/>
        </p:nvSpPr>
        <p:spPr>
          <a:xfrm>
            <a:off x="2743200" y="5824728"/>
            <a:ext cx="1371600" cy="228600"/>
          </a:xfrm>
          <a:prstGeom prst="rect">
            <a:avLst/>
          </a:prstGeom>
          <a:noFill/>
        </p:spPr>
        <p:txBody>
          <a:bodyPr wrap="square">
            <a:spAutoFit/>
          </a:bodyPr>
          <a:lstStyle/>
          <a:p>
            <a:pPr algn="l">
              <a:defRPr sz="1000" b="0">
                <a:solidFill>
                  <a:srgbClr val="94A3B8"/>
                </a:solidFill>
                <a:latin typeface="Courier New"/>
              </a:defRPr>
            </a:pPr>
            <a:r>
              <a:t>0xE7a7...fc2c</a:t>
            </a:r>
          </a:p>
        </p:txBody>
      </p:sp>
      <p:sp>
        <p:nvSpPr>
          <p:cNvPr id="42" name="TextBox 41"/>
          <p:cNvSpPr txBox="1"/>
          <p:nvPr/>
        </p:nvSpPr>
        <p:spPr>
          <a:xfrm>
            <a:off x="685800" y="6062472"/>
            <a:ext cx="5029200" cy="228600"/>
          </a:xfrm>
          <a:prstGeom prst="rect">
            <a:avLst/>
          </a:prstGeom>
          <a:noFill/>
        </p:spPr>
        <p:txBody>
          <a:bodyPr wrap="square">
            <a:spAutoFit/>
          </a:bodyPr>
          <a:lstStyle/>
          <a:p>
            <a:pPr algn="l">
              <a:defRPr sz="1000" b="0">
                <a:solidFill>
                  <a:srgbClr val="CBD5E1"/>
                </a:solidFill>
                <a:latin typeface="Calibri"/>
              </a:defRPr>
            </a:pPr>
            <a:r>
              <a:t>Rental payment processing</a:t>
            </a:r>
          </a:p>
        </p:txBody>
      </p:sp>
      <p:sp>
        <p:nvSpPr>
          <p:cNvPr id="43" name="TextBox 42"/>
          <p:cNvSpPr txBox="1"/>
          <p:nvPr/>
        </p:nvSpPr>
        <p:spPr>
          <a:xfrm>
            <a:off x="6309360" y="4206240"/>
            <a:ext cx="5303520" cy="365760"/>
          </a:xfrm>
          <a:prstGeom prst="rect">
            <a:avLst/>
          </a:prstGeom>
          <a:noFill/>
        </p:spPr>
        <p:txBody>
          <a:bodyPr wrap="square">
            <a:spAutoFit/>
          </a:bodyPr>
          <a:lstStyle/>
          <a:p>
            <a:pPr algn="l">
              <a:defRPr sz="1600" b="1">
                <a:solidFill>
                  <a:srgbClr val="375BD2"/>
                </a:solidFill>
                <a:latin typeface="Calibri"/>
              </a:defRPr>
            </a:pPr>
            <a:r>
              <a:t>CRE Receivers</a:t>
            </a:r>
          </a:p>
        </p:txBody>
      </p:sp>
      <p:sp>
        <p:nvSpPr>
          <p:cNvPr id="44" name="Rounded Rectangle 43"/>
          <p:cNvSpPr/>
          <p:nvPr/>
        </p:nvSpPr>
        <p:spPr>
          <a:xfrm>
            <a:off x="6309360" y="461772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46520" y="4636008"/>
            <a:ext cx="2011680" cy="228600"/>
          </a:xfrm>
          <a:prstGeom prst="rect">
            <a:avLst/>
          </a:prstGeom>
          <a:noFill/>
        </p:spPr>
        <p:txBody>
          <a:bodyPr wrap="square">
            <a:spAutoFit/>
          </a:bodyPr>
          <a:lstStyle/>
          <a:p>
            <a:pPr algn="l">
              <a:defRPr sz="1200" b="1">
                <a:solidFill>
                  <a:srgbClr val="FFFFFF"/>
                </a:solidFill>
                <a:latin typeface="Calibri"/>
              </a:defRPr>
            </a:pPr>
            <a:r>
              <a:t>OnboardingReceiver</a:t>
            </a:r>
          </a:p>
        </p:txBody>
      </p:sp>
      <p:sp>
        <p:nvSpPr>
          <p:cNvPr id="46" name="TextBox 45"/>
          <p:cNvSpPr txBox="1"/>
          <p:nvPr/>
        </p:nvSpPr>
        <p:spPr>
          <a:xfrm>
            <a:off x="8503920" y="4636008"/>
            <a:ext cx="1371600" cy="228600"/>
          </a:xfrm>
          <a:prstGeom prst="rect">
            <a:avLst/>
          </a:prstGeom>
          <a:noFill/>
        </p:spPr>
        <p:txBody>
          <a:bodyPr wrap="square">
            <a:spAutoFit/>
          </a:bodyPr>
          <a:lstStyle/>
          <a:p>
            <a:pPr algn="l">
              <a:defRPr sz="1000" b="0">
                <a:solidFill>
                  <a:srgbClr val="94A3B8"/>
                </a:solidFill>
                <a:latin typeface="Courier New"/>
              </a:defRPr>
            </a:pPr>
            <a:r>
              <a:t>0xF080...3850</a:t>
            </a:r>
          </a:p>
        </p:txBody>
      </p:sp>
      <p:sp>
        <p:nvSpPr>
          <p:cNvPr id="47" name="TextBox 46"/>
          <p:cNvSpPr txBox="1"/>
          <p:nvPr/>
        </p:nvSpPr>
        <p:spPr>
          <a:xfrm>
            <a:off x="6446520" y="4873752"/>
            <a:ext cx="5029200" cy="228600"/>
          </a:xfrm>
          <a:prstGeom prst="rect">
            <a:avLst/>
          </a:prstGeom>
          <a:noFill/>
        </p:spPr>
        <p:txBody>
          <a:bodyPr wrap="square">
            <a:spAutoFit/>
          </a:bodyPr>
          <a:lstStyle/>
          <a:p>
            <a:pPr algn="l">
              <a:defRPr sz="1000" b="0">
                <a:solidFill>
                  <a:srgbClr val="CBD5E1"/>
                </a:solidFill>
                <a:latin typeface="Calibri"/>
              </a:defRPr>
            </a:pPr>
            <a:r>
              <a:t>Identity verification reports</a:t>
            </a:r>
          </a:p>
        </p:txBody>
      </p:sp>
      <p:sp>
        <p:nvSpPr>
          <p:cNvPr id="48" name="Rounded Rectangle 47"/>
          <p:cNvSpPr/>
          <p:nvPr/>
        </p:nvSpPr>
        <p:spPr>
          <a:xfrm>
            <a:off x="6309360" y="521208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46520" y="5230368"/>
            <a:ext cx="2011680" cy="228600"/>
          </a:xfrm>
          <a:prstGeom prst="rect">
            <a:avLst/>
          </a:prstGeom>
          <a:noFill/>
        </p:spPr>
        <p:txBody>
          <a:bodyPr wrap="square">
            <a:spAutoFit/>
          </a:bodyPr>
          <a:lstStyle/>
          <a:p>
            <a:pPr algn="l">
              <a:defRPr sz="1200" b="1">
                <a:solidFill>
                  <a:srgbClr val="FFFFFF"/>
                </a:solidFill>
                <a:latin typeface="Calibri"/>
              </a:defRPr>
            </a:pPr>
            <a:r>
              <a:t>VehicleReceiver</a:t>
            </a:r>
          </a:p>
        </p:txBody>
      </p:sp>
      <p:sp>
        <p:nvSpPr>
          <p:cNvPr id="50" name="TextBox 49"/>
          <p:cNvSpPr txBox="1"/>
          <p:nvPr/>
        </p:nvSpPr>
        <p:spPr>
          <a:xfrm>
            <a:off x="8503920" y="5230368"/>
            <a:ext cx="1371600" cy="228600"/>
          </a:xfrm>
          <a:prstGeom prst="rect">
            <a:avLst/>
          </a:prstGeom>
          <a:noFill/>
        </p:spPr>
        <p:txBody>
          <a:bodyPr wrap="square">
            <a:spAutoFit/>
          </a:bodyPr>
          <a:lstStyle/>
          <a:p>
            <a:pPr algn="l">
              <a:defRPr sz="1000" b="0">
                <a:solidFill>
                  <a:srgbClr val="94A3B8"/>
                </a:solidFill>
                <a:latin typeface="Courier New"/>
              </a:defRPr>
            </a:pPr>
            <a:r>
              <a:t>0x73c5...e81B</a:t>
            </a:r>
          </a:p>
        </p:txBody>
      </p:sp>
      <p:sp>
        <p:nvSpPr>
          <p:cNvPr id="51" name="TextBox 50"/>
          <p:cNvSpPr txBox="1"/>
          <p:nvPr/>
        </p:nvSpPr>
        <p:spPr>
          <a:xfrm>
            <a:off x="6446520" y="5468112"/>
            <a:ext cx="5029200" cy="228600"/>
          </a:xfrm>
          <a:prstGeom prst="rect">
            <a:avLst/>
          </a:prstGeom>
          <a:noFill/>
        </p:spPr>
        <p:txBody>
          <a:bodyPr wrap="square">
            <a:spAutoFit/>
          </a:bodyPr>
          <a:lstStyle/>
          <a:p>
            <a:pPr algn="l">
              <a:defRPr sz="1000" b="0">
                <a:solidFill>
                  <a:srgbClr val="CBD5E1"/>
                </a:solidFill>
                <a:latin typeface="Calibri"/>
              </a:defRPr>
            </a:pPr>
            <a:r>
              <a:t>Telematics &amp; mileage reports</a:t>
            </a:r>
          </a:p>
        </p:txBody>
      </p:sp>
      <p:sp>
        <p:nvSpPr>
          <p:cNvPr id="52" name="Rounded Rectangle 51"/>
          <p:cNvSpPr/>
          <p:nvPr/>
        </p:nvSpPr>
        <p:spPr>
          <a:xfrm>
            <a:off x="6309360" y="5806440"/>
            <a:ext cx="5303520" cy="50292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46520" y="5824728"/>
            <a:ext cx="2011680" cy="228600"/>
          </a:xfrm>
          <a:prstGeom prst="rect">
            <a:avLst/>
          </a:prstGeom>
          <a:noFill/>
        </p:spPr>
        <p:txBody>
          <a:bodyPr wrap="square">
            <a:spAutoFit/>
          </a:bodyPr>
          <a:lstStyle/>
          <a:p>
            <a:pPr algn="l">
              <a:defRPr sz="1200" b="1">
                <a:solidFill>
                  <a:srgbClr val="FFFFFF"/>
                </a:solidFill>
                <a:latin typeface="Calibri"/>
              </a:defRPr>
            </a:pPr>
            <a:r>
              <a:t>PaymentReceiver</a:t>
            </a:r>
          </a:p>
        </p:txBody>
      </p:sp>
      <p:sp>
        <p:nvSpPr>
          <p:cNvPr id="54" name="TextBox 53"/>
          <p:cNvSpPr txBox="1"/>
          <p:nvPr/>
        </p:nvSpPr>
        <p:spPr>
          <a:xfrm>
            <a:off x="8503920" y="5824728"/>
            <a:ext cx="1371600" cy="228600"/>
          </a:xfrm>
          <a:prstGeom prst="rect">
            <a:avLst/>
          </a:prstGeom>
          <a:noFill/>
        </p:spPr>
        <p:txBody>
          <a:bodyPr wrap="square">
            <a:spAutoFit/>
          </a:bodyPr>
          <a:lstStyle/>
          <a:p>
            <a:pPr algn="l">
              <a:defRPr sz="1000" b="0">
                <a:solidFill>
                  <a:srgbClr val="94A3B8"/>
                </a:solidFill>
                <a:latin typeface="Courier New"/>
              </a:defRPr>
            </a:pPr>
            <a:r>
              <a:t>0x2f7F...B7C2</a:t>
            </a:r>
          </a:p>
        </p:txBody>
      </p:sp>
      <p:sp>
        <p:nvSpPr>
          <p:cNvPr id="55" name="TextBox 54"/>
          <p:cNvSpPr txBox="1"/>
          <p:nvPr/>
        </p:nvSpPr>
        <p:spPr>
          <a:xfrm>
            <a:off x="6446520" y="6062472"/>
            <a:ext cx="5029200" cy="228600"/>
          </a:xfrm>
          <a:prstGeom prst="rect">
            <a:avLst/>
          </a:prstGeom>
          <a:noFill/>
        </p:spPr>
        <p:txBody>
          <a:bodyPr wrap="square">
            <a:spAutoFit/>
          </a:bodyPr>
          <a:lstStyle/>
          <a:p>
            <a:pPr algn="l">
              <a:defRPr sz="1000" b="0">
                <a:solidFill>
                  <a:srgbClr val="CBD5E1"/>
                </a:solidFill>
                <a:latin typeface="Calibri"/>
              </a:defRPr>
            </a:pPr>
            <a:r>
              <a:t>Milestone completion reports</a:t>
            </a:r>
          </a:p>
        </p:txBody>
      </p:sp>
      <p:sp>
        <p:nvSpPr>
          <p:cNvPr id="56" name="TextBox 55"/>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Platform Roles</a:t>
            </a:r>
          </a:p>
        </p:txBody>
      </p:sp>
      <p:sp>
        <p:nvSpPr>
          <p:cNvPr id="3" name="Rounded Rectangle 2"/>
          <p:cNvSpPr/>
          <p:nvPr/>
        </p:nvSpPr>
        <p:spPr>
          <a:xfrm>
            <a:off x="365760" y="1463040"/>
            <a:ext cx="2743200" cy="47548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1463040"/>
            <a:ext cx="73152" cy="47548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00200"/>
            <a:ext cx="2377440" cy="365760"/>
          </a:xfrm>
          <a:prstGeom prst="rect">
            <a:avLst/>
          </a:prstGeom>
          <a:noFill/>
        </p:spPr>
        <p:txBody>
          <a:bodyPr wrap="square">
            <a:spAutoFit/>
          </a:bodyPr>
          <a:lstStyle/>
          <a:p>
            <a:pPr algn="l">
              <a:defRPr sz="2200" b="1">
                <a:solidFill>
                  <a:srgbClr val="FFFFFF"/>
                </a:solidFill>
                <a:latin typeface="Calibri"/>
              </a:defRPr>
            </a:pPr>
            <a:r>
              <a:t>Investor</a:t>
            </a:r>
          </a:p>
        </p:txBody>
      </p:sp>
      <p:sp>
        <p:nvSpPr>
          <p:cNvPr id="6" name="TextBox 5"/>
          <p:cNvSpPr txBox="1"/>
          <p:nvPr/>
        </p:nvSpPr>
        <p:spPr>
          <a:xfrm>
            <a:off x="685800" y="2011680"/>
            <a:ext cx="2286000" cy="320040"/>
          </a:xfrm>
          <a:prstGeom prst="rect">
            <a:avLst/>
          </a:prstGeom>
          <a:noFill/>
        </p:spPr>
        <p:txBody>
          <a:bodyPr wrap="square">
            <a:spAutoFit/>
          </a:bodyPr>
          <a:lstStyle/>
          <a:p>
            <a:pPr algn="l">
              <a:defRPr sz="1300" b="0">
                <a:solidFill>
                  <a:srgbClr val="CBD5E1"/>
                </a:solidFill>
                <a:latin typeface="Calibri"/>
              </a:defRPr>
            </a:pPr>
            <a:r>
              <a:t>• Browse marketplace &amp; invest ETH</a:t>
            </a:r>
          </a:p>
        </p:txBody>
      </p:sp>
      <p:sp>
        <p:nvSpPr>
          <p:cNvPr id="7" name="TextBox 6"/>
          <p:cNvSpPr txBox="1"/>
          <p:nvPr/>
        </p:nvSpPr>
        <p:spPr>
          <a:xfrm>
            <a:off x="685800" y="2604736"/>
            <a:ext cx="2286000" cy="320040"/>
          </a:xfrm>
          <a:prstGeom prst="rect">
            <a:avLst/>
          </a:prstGeom>
          <a:noFill/>
        </p:spPr>
        <p:txBody>
          <a:bodyPr wrap="square">
            <a:spAutoFit/>
          </a:bodyPr>
          <a:lstStyle/>
          <a:p>
            <a:pPr algn="l">
              <a:defRPr sz="1300" b="0">
                <a:solidFill>
                  <a:srgbClr val="CBD5E1"/>
                </a:solidFill>
                <a:latin typeface="Calibri"/>
              </a:defRPr>
            </a:pPr>
            <a:r>
              <a:t>• WorldID verification for sybil resistance</a:t>
            </a:r>
          </a:p>
        </p:txBody>
      </p:sp>
      <p:sp>
        <p:nvSpPr>
          <p:cNvPr id="8" name="TextBox 7"/>
          <p:cNvSpPr txBox="1"/>
          <p:nvPr/>
        </p:nvSpPr>
        <p:spPr>
          <a:xfrm>
            <a:off x="685800" y="3158604"/>
            <a:ext cx="2286000" cy="320040"/>
          </a:xfrm>
          <a:prstGeom prst="rect">
            <a:avLst/>
          </a:prstGeom>
          <a:noFill/>
        </p:spPr>
        <p:txBody>
          <a:bodyPr wrap="square">
            <a:spAutoFit/>
          </a:bodyPr>
          <a:lstStyle/>
          <a:p>
            <a:pPr algn="l">
              <a:defRPr sz="1300" b="0">
                <a:solidFill>
                  <a:srgbClr val="CBD5E1"/>
                </a:solidFill>
                <a:latin typeface="Calibri"/>
              </a:defRPr>
            </a:pPr>
            <a:r>
              <a:rPr dirty="0"/>
              <a:t>• KYC upload → ERC-3643 identity on-chain</a:t>
            </a:r>
          </a:p>
        </p:txBody>
      </p:sp>
      <p:sp>
        <p:nvSpPr>
          <p:cNvPr id="9" name="TextBox 8"/>
          <p:cNvSpPr txBox="1"/>
          <p:nvPr/>
        </p:nvSpPr>
        <p:spPr>
          <a:xfrm>
            <a:off x="685800" y="3738598"/>
            <a:ext cx="2286000" cy="320040"/>
          </a:xfrm>
          <a:prstGeom prst="rect">
            <a:avLst/>
          </a:prstGeom>
          <a:noFill/>
        </p:spPr>
        <p:txBody>
          <a:bodyPr wrap="square">
            <a:spAutoFit/>
          </a:bodyPr>
          <a:lstStyle/>
          <a:p>
            <a:pPr algn="l">
              <a:defRPr sz="1300" b="0">
                <a:solidFill>
                  <a:srgbClr val="CBD5E1"/>
                </a:solidFill>
                <a:latin typeface="Calibri"/>
              </a:defRPr>
            </a:pPr>
            <a:r>
              <a:rPr dirty="0"/>
              <a:t>• Receive </a:t>
            </a:r>
            <a:r>
              <a:rPr dirty="0" err="1"/>
              <a:t>AssetTokens</a:t>
            </a:r>
            <a:r>
              <a:rPr dirty="0"/>
              <a:t> + </a:t>
            </a:r>
            <a:r>
              <a:rPr dirty="0" err="1"/>
              <a:t>RevenueTokens</a:t>
            </a:r>
            <a:endParaRPr dirty="0"/>
          </a:p>
        </p:txBody>
      </p:sp>
      <p:sp>
        <p:nvSpPr>
          <p:cNvPr id="10" name="TextBox 9"/>
          <p:cNvSpPr txBox="1"/>
          <p:nvPr/>
        </p:nvSpPr>
        <p:spPr>
          <a:xfrm>
            <a:off x="685800" y="4396967"/>
            <a:ext cx="2286000" cy="320040"/>
          </a:xfrm>
          <a:prstGeom prst="rect">
            <a:avLst/>
          </a:prstGeom>
          <a:noFill/>
        </p:spPr>
        <p:txBody>
          <a:bodyPr wrap="square">
            <a:spAutoFit/>
          </a:bodyPr>
          <a:lstStyle/>
          <a:p>
            <a:pPr algn="l">
              <a:defRPr sz="1300" b="0">
                <a:solidFill>
                  <a:srgbClr val="CBD5E1"/>
                </a:solidFill>
                <a:latin typeface="Calibri"/>
              </a:defRPr>
            </a:pPr>
            <a:r>
              <a:rPr dirty="0"/>
              <a:t>• Claim quarterly rental revenue</a:t>
            </a:r>
          </a:p>
        </p:txBody>
      </p:sp>
      <p:sp>
        <p:nvSpPr>
          <p:cNvPr id="11" name="Rounded Rectangle 10"/>
          <p:cNvSpPr/>
          <p:nvPr/>
        </p:nvSpPr>
        <p:spPr>
          <a:xfrm>
            <a:off x="3291840" y="1463040"/>
            <a:ext cx="2743200" cy="47548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91840" y="1463040"/>
            <a:ext cx="73152" cy="47548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66160" y="1600200"/>
            <a:ext cx="2377440" cy="365760"/>
          </a:xfrm>
          <a:prstGeom prst="rect">
            <a:avLst/>
          </a:prstGeom>
          <a:noFill/>
        </p:spPr>
        <p:txBody>
          <a:bodyPr wrap="square">
            <a:spAutoFit/>
          </a:bodyPr>
          <a:lstStyle/>
          <a:p>
            <a:pPr algn="l">
              <a:defRPr sz="2200" b="1">
                <a:solidFill>
                  <a:srgbClr val="FFFFFF"/>
                </a:solidFill>
                <a:latin typeface="Calibri"/>
              </a:defRPr>
            </a:pPr>
            <a:r>
              <a:t>Rentor</a:t>
            </a:r>
          </a:p>
        </p:txBody>
      </p:sp>
      <p:sp>
        <p:nvSpPr>
          <p:cNvPr id="14" name="TextBox 13"/>
          <p:cNvSpPr txBox="1"/>
          <p:nvPr/>
        </p:nvSpPr>
        <p:spPr>
          <a:xfrm>
            <a:off x="3572691" y="2050869"/>
            <a:ext cx="2286000" cy="320040"/>
          </a:xfrm>
          <a:prstGeom prst="rect">
            <a:avLst/>
          </a:prstGeom>
          <a:noFill/>
        </p:spPr>
        <p:txBody>
          <a:bodyPr wrap="square">
            <a:spAutoFit/>
          </a:bodyPr>
          <a:lstStyle/>
          <a:p>
            <a:pPr algn="l">
              <a:defRPr sz="1300" b="0">
                <a:solidFill>
                  <a:srgbClr val="CBD5E1"/>
                </a:solidFill>
                <a:latin typeface="Calibri"/>
              </a:defRPr>
            </a:pPr>
            <a:r>
              <a:rPr dirty="0"/>
              <a:t>• Register vehicles as ERC-721 NFTs</a:t>
            </a:r>
          </a:p>
        </p:txBody>
      </p:sp>
      <p:sp>
        <p:nvSpPr>
          <p:cNvPr id="15" name="TextBox 14"/>
          <p:cNvSpPr txBox="1"/>
          <p:nvPr/>
        </p:nvSpPr>
        <p:spPr>
          <a:xfrm>
            <a:off x="3566160" y="2617469"/>
            <a:ext cx="2286000" cy="320040"/>
          </a:xfrm>
          <a:prstGeom prst="rect">
            <a:avLst/>
          </a:prstGeom>
          <a:noFill/>
        </p:spPr>
        <p:txBody>
          <a:bodyPr wrap="square">
            <a:spAutoFit/>
          </a:bodyPr>
          <a:lstStyle/>
          <a:p>
            <a:pPr algn="l">
              <a:defRPr sz="1300" b="0">
                <a:solidFill>
                  <a:srgbClr val="CBD5E1"/>
                </a:solidFill>
                <a:latin typeface="Calibri"/>
              </a:defRPr>
            </a:pPr>
            <a:r>
              <a:rPr dirty="0"/>
              <a:t>• Create fundraising campaigns</a:t>
            </a:r>
          </a:p>
        </p:txBody>
      </p:sp>
      <p:sp>
        <p:nvSpPr>
          <p:cNvPr id="16" name="TextBox 15"/>
          <p:cNvSpPr txBox="1"/>
          <p:nvPr/>
        </p:nvSpPr>
        <p:spPr>
          <a:xfrm>
            <a:off x="3557016" y="3182112"/>
            <a:ext cx="2286000" cy="320040"/>
          </a:xfrm>
          <a:prstGeom prst="rect">
            <a:avLst/>
          </a:prstGeom>
          <a:noFill/>
        </p:spPr>
        <p:txBody>
          <a:bodyPr wrap="square">
            <a:spAutoFit/>
          </a:bodyPr>
          <a:lstStyle/>
          <a:p>
            <a:pPr algn="l">
              <a:defRPr sz="1300" b="0">
                <a:solidFill>
                  <a:srgbClr val="CBD5E1"/>
                </a:solidFill>
                <a:latin typeface="Calibri"/>
              </a:defRPr>
            </a:pPr>
            <a:r>
              <a:t>• Manage rental bookings</a:t>
            </a:r>
          </a:p>
        </p:txBody>
      </p:sp>
      <p:sp>
        <p:nvSpPr>
          <p:cNvPr id="17" name="TextBox 16"/>
          <p:cNvSpPr txBox="1"/>
          <p:nvPr/>
        </p:nvSpPr>
        <p:spPr>
          <a:xfrm>
            <a:off x="3546566" y="3670011"/>
            <a:ext cx="2286000" cy="320040"/>
          </a:xfrm>
          <a:prstGeom prst="rect">
            <a:avLst/>
          </a:prstGeom>
          <a:noFill/>
        </p:spPr>
        <p:txBody>
          <a:bodyPr wrap="square">
            <a:spAutoFit/>
          </a:bodyPr>
          <a:lstStyle/>
          <a:p>
            <a:pPr algn="l">
              <a:defRPr sz="1300" b="0">
                <a:solidFill>
                  <a:srgbClr val="CBD5E1"/>
                </a:solidFill>
                <a:latin typeface="Calibri"/>
              </a:defRPr>
            </a:pPr>
            <a:r>
              <a:rPr dirty="0"/>
              <a:t>• Earn 10% operator fee on revenue</a:t>
            </a:r>
          </a:p>
        </p:txBody>
      </p:sp>
      <p:sp>
        <p:nvSpPr>
          <p:cNvPr id="18" name="TextBox 17"/>
          <p:cNvSpPr txBox="1"/>
          <p:nvPr/>
        </p:nvSpPr>
        <p:spPr>
          <a:xfrm>
            <a:off x="3546566" y="4366261"/>
            <a:ext cx="2286000" cy="320040"/>
          </a:xfrm>
          <a:prstGeom prst="rect">
            <a:avLst/>
          </a:prstGeom>
          <a:noFill/>
        </p:spPr>
        <p:txBody>
          <a:bodyPr wrap="square">
            <a:spAutoFit/>
          </a:bodyPr>
          <a:lstStyle/>
          <a:p>
            <a:pPr algn="l">
              <a:defRPr sz="1300" b="0">
                <a:solidFill>
                  <a:srgbClr val="CBD5E1"/>
                </a:solidFill>
                <a:latin typeface="Calibri"/>
              </a:defRPr>
            </a:pPr>
            <a:r>
              <a:rPr dirty="0"/>
              <a:t>• Track analytics &amp; vehicle performance</a:t>
            </a:r>
          </a:p>
        </p:txBody>
      </p:sp>
      <p:sp>
        <p:nvSpPr>
          <p:cNvPr id="19" name="Rounded Rectangle 18"/>
          <p:cNvSpPr/>
          <p:nvPr/>
        </p:nvSpPr>
        <p:spPr>
          <a:xfrm>
            <a:off x="6217920" y="1463040"/>
            <a:ext cx="2743200" cy="47548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1463040"/>
            <a:ext cx="73152" cy="475488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1600200"/>
            <a:ext cx="2377440" cy="365760"/>
          </a:xfrm>
          <a:prstGeom prst="rect">
            <a:avLst/>
          </a:prstGeom>
          <a:noFill/>
        </p:spPr>
        <p:txBody>
          <a:bodyPr wrap="square">
            <a:spAutoFit/>
          </a:bodyPr>
          <a:lstStyle/>
          <a:p>
            <a:pPr algn="l">
              <a:defRPr sz="2200" b="1">
                <a:solidFill>
                  <a:srgbClr val="FFFFFF"/>
                </a:solidFill>
                <a:latin typeface="Calibri"/>
              </a:defRPr>
            </a:pPr>
            <a:r>
              <a:t>Renter</a:t>
            </a:r>
          </a:p>
        </p:txBody>
      </p:sp>
      <p:sp>
        <p:nvSpPr>
          <p:cNvPr id="22" name="TextBox 21"/>
          <p:cNvSpPr txBox="1"/>
          <p:nvPr/>
        </p:nvSpPr>
        <p:spPr>
          <a:xfrm>
            <a:off x="6492240" y="2050869"/>
            <a:ext cx="2286000" cy="320040"/>
          </a:xfrm>
          <a:prstGeom prst="rect">
            <a:avLst/>
          </a:prstGeom>
          <a:noFill/>
        </p:spPr>
        <p:txBody>
          <a:bodyPr wrap="square">
            <a:spAutoFit/>
          </a:bodyPr>
          <a:lstStyle/>
          <a:p>
            <a:pPr algn="l">
              <a:defRPr sz="1300" b="0">
                <a:solidFill>
                  <a:srgbClr val="CBD5E1"/>
                </a:solidFill>
                <a:latin typeface="Calibri"/>
              </a:defRPr>
            </a:pPr>
            <a:r>
              <a:rPr dirty="0"/>
              <a:t>• Browse &amp; filter available vehicles</a:t>
            </a:r>
          </a:p>
        </p:txBody>
      </p:sp>
      <p:sp>
        <p:nvSpPr>
          <p:cNvPr id="23" name="TextBox 22"/>
          <p:cNvSpPr txBox="1"/>
          <p:nvPr/>
        </p:nvSpPr>
        <p:spPr>
          <a:xfrm>
            <a:off x="6473952" y="2617469"/>
            <a:ext cx="2286000" cy="320040"/>
          </a:xfrm>
          <a:prstGeom prst="rect">
            <a:avLst/>
          </a:prstGeom>
          <a:noFill/>
        </p:spPr>
        <p:txBody>
          <a:bodyPr wrap="square">
            <a:spAutoFit/>
          </a:bodyPr>
          <a:lstStyle/>
          <a:p>
            <a:pPr algn="l">
              <a:defRPr sz="1300" b="0">
                <a:solidFill>
                  <a:srgbClr val="CBD5E1"/>
                </a:solidFill>
                <a:latin typeface="Calibri"/>
              </a:defRPr>
            </a:pPr>
            <a:r>
              <a:rPr dirty="0"/>
              <a:t>• Book vehicles with date selection</a:t>
            </a:r>
          </a:p>
        </p:txBody>
      </p:sp>
      <p:sp>
        <p:nvSpPr>
          <p:cNvPr id="24" name="TextBox 23"/>
          <p:cNvSpPr txBox="1"/>
          <p:nvPr/>
        </p:nvSpPr>
        <p:spPr>
          <a:xfrm>
            <a:off x="6446520" y="3178193"/>
            <a:ext cx="2286000" cy="320040"/>
          </a:xfrm>
          <a:prstGeom prst="rect">
            <a:avLst/>
          </a:prstGeom>
          <a:noFill/>
        </p:spPr>
        <p:txBody>
          <a:bodyPr wrap="square">
            <a:spAutoFit/>
          </a:bodyPr>
          <a:lstStyle/>
          <a:p>
            <a:pPr algn="l">
              <a:defRPr sz="1300" b="0">
                <a:solidFill>
                  <a:srgbClr val="CBD5E1"/>
                </a:solidFill>
                <a:latin typeface="Calibri"/>
              </a:defRPr>
            </a:pPr>
            <a:r>
              <a:rPr dirty="0"/>
              <a:t>• Optional </a:t>
            </a:r>
            <a:r>
              <a:rPr dirty="0" err="1"/>
              <a:t>WorldID</a:t>
            </a:r>
            <a:r>
              <a:rPr dirty="0"/>
              <a:t> verification</a:t>
            </a:r>
          </a:p>
        </p:txBody>
      </p:sp>
      <p:sp>
        <p:nvSpPr>
          <p:cNvPr id="25" name="TextBox 24"/>
          <p:cNvSpPr txBox="1"/>
          <p:nvPr/>
        </p:nvSpPr>
        <p:spPr>
          <a:xfrm>
            <a:off x="6492240" y="3670011"/>
            <a:ext cx="2286000" cy="320040"/>
          </a:xfrm>
          <a:prstGeom prst="rect">
            <a:avLst/>
          </a:prstGeom>
          <a:noFill/>
        </p:spPr>
        <p:txBody>
          <a:bodyPr wrap="square">
            <a:spAutoFit/>
          </a:bodyPr>
          <a:lstStyle/>
          <a:p>
            <a:pPr algn="l">
              <a:defRPr sz="1300" b="0">
                <a:solidFill>
                  <a:srgbClr val="CBD5E1"/>
                </a:solidFill>
                <a:latin typeface="Calibri"/>
              </a:defRPr>
            </a:pPr>
            <a:r>
              <a:rPr dirty="0"/>
              <a:t>• Leave reviews &amp; ratings</a:t>
            </a:r>
          </a:p>
        </p:txBody>
      </p:sp>
      <p:sp>
        <p:nvSpPr>
          <p:cNvPr id="26" name="TextBox 25"/>
          <p:cNvSpPr txBox="1"/>
          <p:nvPr/>
        </p:nvSpPr>
        <p:spPr>
          <a:xfrm>
            <a:off x="6446520" y="4406111"/>
            <a:ext cx="2286000" cy="320040"/>
          </a:xfrm>
          <a:prstGeom prst="rect">
            <a:avLst/>
          </a:prstGeom>
          <a:noFill/>
        </p:spPr>
        <p:txBody>
          <a:bodyPr wrap="square">
            <a:spAutoFit/>
          </a:bodyPr>
          <a:lstStyle/>
          <a:p>
            <a:pPr algn="l">
              <a:defRPr sz="1300" b="0">
                <a:solidFill>
                  <a:srgbClr val="CBD5E1"/>
                </a:solidFill>
                <a:latin typeface="Calibri"/>
              </a:defRPr>
            </a:pPr>
            <a:r>
              <a:rPr dirty="0"/>
              <a:t>• Track active &amp; past rentals</a:t>
            </a:r>
          </a:p>
        </p:txBody>
      </p:sp>
      <p:sp>
        <p:nvSpPr>
          <p:cNvPr id="27" name="Rounded Rectangle 26"/>
          <p:cNvSpPr/>
          <p:nvPr/>
        </p:nvSpPr>
        <p:spPr>
          <a:xfrm>
            <a:off x="9144000" y="1463040"/>
            <a:ext cx="2743200" cy="475488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144000" y="1463040"/>
            <a:ext cx="73152" cy="475488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18320" y="1600200"/>
            <a:ext cx="2377440" cy="365760"/>
          </a:xfrm>
          <a:prstGeom prst="rect">
            <a:avLst/>
          </a:prstGeom>
          <a:noFill/>
        </p:spPr>
        <p:txBody>
          <a:bodyPr wrap="square">
            <a:spAutoFit/>
          </a:bodyPr>
          <a:lstStyle/>
          <a:p>
            <a:pPr algn="l">
              <a:defRPr sz="2200" b="1">
                <a:solidFill>
                  <a:srgbClr val="FFFFFF"/>
                </a:solidFill>
                <a:latin typeface="Calibri"/>
              </a:defRPr>
            </a:pPr>
            <a:r>
              <a:t>Admin</a:t>
            </a:r>
          </a:p>
        </p:txBody>
      </p:sp>
      <p:sp>
        <p:nvSpPr>
          <p:cNvPr id="30" name="TextBox 29"/>
          <p:cNvSpPr txBox="1"/>
          <p:nvPr/>
        </p:nvSpPr>
        <p:spPr>
          <a:xfrm>
            <a:off x="9464040" y="2011680"/>
            <a:ext cx="2286000" cy="320040"/>
          </a:xfrm>
          <a:prstGeom prst="rect">
            <a:avLst/>
          </a:prstGeom>
          <a:noFill/>
        </p:spPr>
        <p:txBody>
          <a:bodyPr wrap="square">
            <a:spAutoFit/>
          </a:bodyPr>
          <a:lstStyle/>
          <a:p>
            <a:pPr algn="l">
              <a:defRPr sz="1300" b="0">
                <a:solidFill>
                  <a:srgbClr val="CBD5E1"/>
                </a:solidFill>
                <a:latin typeface="Calibri"/>
              </a:defRPr>
            </a:pPr>
            <a:r>
              <a:rPr dirty="0"/>
              <a:t>• Review &amp; approve KYC submissions</a:t>
            </a:r>
          </a:p>
        </p:txBody>
      </p:sp>
      <p:sp>
        <p:nvSpPr>
          <p:cNvPr id="31" name="TextBox 30"/>
          <p:cNvSpPr txBox="1"/>
          <p:nvPr/>
        </p:nvSpPr>
        <p:spPr>
          <a:xfrm>
            <a:off x="9409176" y="2617469"/>
            <a:ext cx="2286000" cy="320040"/>
          </a:xfrm>
          <a:prstGeom prst="rect">
            <a:avLst/>
          </a:prstGeom>
          <a:noFill/>
        </p:spPr>
        <p:txBody>
          <a:bodyPr wrap="square">
            <a:spAutoFit/>
          </a:bodyPr>
          <a:lstStyle/>
          <a:p>
            <a:pPr algn="l">
              <a:defRPr sz="1300" b="0">
                <a:solidFill>
                  <a:srgbClr val="CBD5E1"/>
                </a:solidFill>
                <a:latin typeface="Calibri"/>
              </a:defRPr>
            </a:pPr>
            <a:r>
              <a:t>• Monitor CRE activity feed</a:t>
            </a:r>
          </a:p>
        </p:txBody>
      </p:sp>
      <p:sp>
        <p:nvSpPr>
          <p:cNvPr id="32" name="TextBox 31"/>
          <p:cNvSpPr txBox="1"/>
          <p:nvPr/>
        </p:nvSpPr>
        <p:spPr>
          <a:xfrm>
            <a:off x="9418320" y="3144231"/>
            <a:ext cx="2286000" cy="320040"/>
          </a:xfrm>
          <a:prstGeom prst="rect">
            <a:avLst/>
          </a:prstGeom>
          <a:noFill/>
        </p:spPr>
        <p:txBody>
          <a:bodyPr wrap="square">
            <a:spAutoFit/>
          </a:bodyPr>
          <a:lstStyle/>
          <a:p>
            <a:pPr algn="l">
              <a:defRPr sz="1300" b="0">
                <a:solidFill>
                  <a:srgbClr val="CBD5E1"/>
                </a:solidFill>
                <a:latin typeface="Calibri"/>
              </a:defRPr>
            </a:pPr>
            <a:r>
              <a:rPr dirty="0"/>
              <a:t>• Track milestone verification status</a:t>
            </a:r>
          </a:p>
        </p:txBody>
      </p:sp>
      <p:sp>
        <p:nvSpPr>
          <p:cNvPr id="33" name="TextBox 32"/>
          <p:cNvSpPr txBox="1"/>
          <p:nvPr/>
        </p:nvSpPr>
        <p:spPr>
          <a:xfrm>
            <a:off x="9418320" y="3707893"/>
            <a:ext cx="2286000" cy="320040"/>
          </a:xfrm>
          <a:prstGeom prst="rect">
            <a:avLst/>
          </a:prstGeom>
          <a:noFill/>
        </p:spPr>
        <p:txBody>
          <a:bodyPr wrap="square">
            <a:spAutoFit/>
          </a:bodyPr>
          <a:lstStyle/>
          <a:p>
            <a:pPr algn="l">
              <a:defRPr sz="1300" b="0">
                <a:solidFill>
                  <a:srgbClr val="CBD5E1"/>
                </a:solidFill>
                <a:latin typeface="Calibri"/>
              </a:defRPr>
            </a:pPr>
            <a:r>
              <a:rPr dirty="0"/>
              <a:t>• Manage disputes &amp; refunds</a:t>
            </a:r>
          </a:p>
        </p:txBody>
      </p:sp>
      <p:sp>
        <p:nvSpPr>
          <p:cNvPr id="34" name="TextBox 33"/>
          <p:cNvSpPr txBox="1"/>
          <p:nvPr/>
        </p:nvSpPr>
        <p:spPr>
          <a:xfrm>
            <a:off x="9464040" y="4366261"/>
            <a:ext cx="2286000" cy="320040"/>
          </a:xfrm>
          <a:prstGeom prst="rect">
            <a:avLst/>
          </a:prstGeom>
          <a:noFill/>
        </p:spPr>
        <p:txBody>
          <a:bodyPr wrap="square">
            <a:spAutoFit/>
          </a:bodyPr>
          <a:lstStyle/>
          <a:p>
            <a:pPr algn="l">
              <a:defRPr sz="1300" b="0">
                <a:solidFill>
                  <a:srgbClr val="CBD5E1"/>
                </a:solidFill>
                <a:latin typeface="Calibri"/>
              </a:defRPr>
            </a:pPr>
            <a:r>
              <a:rPr dirty="0"/>
              <a:t>• Revenue distribution oversight</a:t>
            </a:r>
          </a:p>
        </p:txBody>
      </p:sp>
      <p:sp>
        <p:nvSpPr>
          <p:cNvPr id="35" name="TextBox 34"/>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375BD2"/>
                </a:solidFill>
                <a:latin typeface="Calibri"/>
              </a:defRPr>
            </a:pPr>
            <a:r>
              <a:t>CRE Simulation Results</a:t>
            </a:r>
          </a:p>
        </p:txBody>
      </p:sp>
      <p:sp>
        <p:nvSpPr>
          <p:cNvPr id="3" name="TextBox 2"/>
          <p:cNvSpPr txBox="1"/>
          <p:nvPr/>
        </p:nvSpPr>
        <p:spPr>
          <a:xfrm>
            <a:off x="731520" y="1097280"/>
            <a:ext cx="10058400" cy="457200"/>
          </a:xfrm>
          <a:prstGeom prst="rect">
            <a:avLst/>
          </a:prstGeom>
          <a:noFill/>
        </p:spPr>
        <p:txBody>
          <a:bodyPr wrap="square">
            <a:spAutoFit/>
          </a:bodyPr>
          <a:lstStyle/>
          <a:p>
            <a:pPr algn="l">
              <a:defRPr sz="1600" b="0">
                <a:solidFill>
                  <a:srgbClr val="94A3B8"/>
                </a:solidFill>
                <a:latin typeface="Calibri"/>
              </a:defRPr>
            </a:pPr>
            <a:r>
              <a:t>All 5 workflows pass simulation — ready for DON deployment</a:t>
            </a:r>
          </a:p>
        </p:txBody>
      </p:sp>
      <p:sp>
        <p:nvSpPr>
          <p:cNvPr id="4" name="Rounded Rectangle 3"/>
          <p:cNvSpPr/>
          <p:nvPr/>
        </p:nvSpPr>
        <p:spPr>
          <a:xfrm>
            <a:off x="914400" y="1828800"/>
            <a:ext cx="10332720" cy="68580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1965960"/>
            <a:ext cx="457200" cy="411480"/>
          </a:xfrm>
          <a:prstGeom prst="rect">
            <a:avLst/>
          </a:prstGeom>
          <a:noFill/>
        </p:spPr>
        <p:txBody>
          <a:bodyPr wrap="square">
            <a:spAutoFit/>
          </a:bodyPr>
          <a:lstStyle/>
          <a:p>
            <a:pPr algn="l">
              <a:defRPr sz="2000" b="0">
                <a:solidFill>
                  <a:srgbClr val="FFFFFF"/>
                </a:solidFill>
                <a:latin typeface="Calibri"/>
              </a:defRPr>
            </a:pPr>
            <a:r>
              <a:t>✅</a:t>
            </a:r>
          </a:p>
        </p:txBody>
      </p:sp>
      <p:sp>
        <p:nvSpPr>
          <p:cNvPr id="6" name="TextBox 5"/>
          <p:cNvSpPr txBox="1"/>
          <p:nvPr/>
        </p:nvSpPr>
        <p:spPr>
          <a:xfrm>
            <a:off x="1828800" y="1965960"/>
            <a:ext cx="2743200" cy="411480"/>
          </a:xfrm>
          <a:prstGeom prst="rect">
            <a:avLst/>
          </a:prstGeom>
          <a:noFill/>
        </p:spPr>
        <p:txBody>
          <a:bodyPr wrap="square">
            <a:spAutoFit/>
          </a:bodyPr>
          <a:lstStyle/>
          <a:p>
            <a:pPr algn="l">
              <a:defRPr sz="1600" b="1">
                <a:solidFill>
                  <a:srgbClr val="FFFFFF"/>
                </a:solidFill>
                <a:latin typeface="Courier New"/>
              </a:defRPr>
            </a:pPr>
            <a:r>
              <a:t>onboarding-workflow</a:t>
            </a:r>
          </a:p>
        </p:txBody>
      </p:sp>
      <p:sp>
        <p:nvSpPr>
          <p:cNvPr id="7" name="TextBox 6"/>
          <p:cNvSpPr txBox="1"/>
          <p:nvPr/>
        </p:nvSpPr>
        <p:spPr>
          <a:xfrm>
            <a:off x="5029200" y="1965960"/>
            <a:ext cx="3657600" cy="411480"/>
          </a:xfrm>
          <a:prstGeom prst="rect">
            <a:avLst/>
          </a:prstGeom>
          <a:noFill/>
        </p:spPr>
        <p:txBody>
          <a:bodyPr wrap="square">
            <a:spAutoFit/>
          </a:bodyPr>
          <a:lstStyle/>
          <a:p>
            <a:pPr algn="l">
              <a:defRPr sz="1400" b="0">
                <a:solidFill>
                  <a:srgbClr val="22C55E"/>
                </a:solidFill>
                <a:latin typeface="Calibri"/>
              </a:defRPr>
            </a:pPr>
            <a:r>
              <a:t>[SIMULATION] 5 onboarding reports</a:t>
            </a:r>
          </a:p>
        </p:txBody>
      </p:sp>
      <p:sp>
        <p:nvSpPr>
          <p:cNvPr id="8" name="Rounded Rectangle 7"/>
          <p:cNvSpPr/>
          <p:nvPr/>
        </p:nvSpPr>
        <p:spPr>
          <a:xfrm>
            <a:off x="914400" y="2651760"/>
            <a:ext cx="10332720" cy="68580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2788920"/>
            <a:ext cx="457200" cy="411480"/>
          </a:xfrm>
          <a:prstGeom prst="rect">
            <a:avLst/>
          </a:prstGeom>
          <a:noFill/>
        </p:spPr>
        <p:txBody>
          <a:bodyPr wrap="square">
            <a:spAutoFit/>
          </a:bodyPr>
          <a:lstStyle/>
          <a:p>
            <a:pPr algn="l">
              <a:defRPr sz="2000" b="0">
                <a:solidFill>
                  <a:srgbClr val="FFFFFF"/>
                </a:solidFill>
                <a:latin typeface="Calibri"/>
              </a:defRPr>
            </a:pPr>
            <a:r>
              <a:t>✅</a:t>
            </a:r>
          </a:p>
        </p:txBody>
      </p:sp>
      <p:sp>
        <p:nvSpPr>
          <p:cNvPr id="10" name="TextBox 9"/>
          <p:cNvSpPr txBox="1"/>
          <p:nvPr/>
        </p:nvSpPr>
        <p:spPr>
          <a:xfrm>
            <a:off x="1828800" y="2788920"/>
            <a:ext cx="2743200" cy="411480"/>
          </a:xfrm>
          <a:prstGeom prst="rect">
            <a:avLst/>
          </a:prstGeom>
          <a:noFill/>
        </p:spPr>
        <p:txBody>
          <a:bodyPr wrap="square">
            <a:spAutoFit/>
          </a:bodyPr>
          <a:lstStyle/>
          <a:p>
            <a:pPr algn="l">
              <a:defRPr sz="1600" b="1">
                <a:solidFill>
                  <a:srgbClr val="FFFFFF"/>
                </a:solidFill>
                <a:latin typeface="Courier New"/>
              </a:defRPr>
            </a:pPr>
            <a:r>
              <a:t>campaign-workflow</a:t>
            </a:r>
          </a:p>
        </p:txBody>
      </p:sp>
      <p:sp>
        <p:nvSpPr>
          <p:cNvPr id="11" name="TextBox 10"/>
          <p:cNvSpPr txBox="1"/>
          <p:nvPr/>
        </p:nvSpPr>
        <p:spPr>
          <a:xfrm>
            <a:off x="5029200" y="2788920"/>
            <a:ext cx="3657600" cy="411480"/>
          </a:xfrm>
          <a:prstGeom prst="rect">
            <a:avLst/>
          </a:prstGeom>
          <a:noFill/>
        </p:spPr>
        <p:txBody>
          <a:bodyPr wrap="square">
            <a:spAutoFit/>
          </a:bodyPr>
          <a:lstStyle/>
          <a:p>
            <a:pPr algn="l">
              <a:defRPr sz="1400" b="0">
                <a:solidFill>
                  <a:srgbClr val="22C55E"/>
                </a:solidFill>
                <a:latin typeface="Calibri"/>
              </a:defRPr>
            </a:pPr>
            <a:r>
              <a:t>[SIMULATION] 2 campaign reports</a:t>
            </a:r>
          </a:p>
        </p:txBody>
      </p:sp>
      <p:sp>
        <p:nvSpPr>
          <p:cNvPr id="12" name="Rounded Rectangle 11"/>
          <p:cNvSpPr/>
          <p:nvPr/>
        </p:nvSpPr>
        <p:spPr>
          <a:xfrm>
            <a:off x="914400" y="3474720"/>
            <a:ext cx="10332720" cy="68580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3611880"/>
            <a:ext cx="457200" cy="411480"/>
          </a:xfrm>
          <a:prstGeom prst="rect">
            <a:avLst/>
          </a:prstGeom>
          <a:noFill/>
        </p:spPr>
        <p:txBody>
          <a:bodyPr wrap="square">
            <a:spAutoFit/>
          </a:bodyPr>
          <a:lstStyle/>
          <a:p>
            <a:pPr algn="l">
              <a:defRPr sz="2000" b="0">
                <a:solidFill>
                  <a:srgbClr val="FFFFFF"/>
                </a:solidFill>
                <a:latin typeface="Calibri"/>
              </a:defRPr>
            </a:pPr>
            <a:r>
              <a:t>✅</a:t>
            </a:r>
          </a:p>
        </p:txBody>
      </p:sp>
      <p:sp>
        <p:nvSpPr>
          <p:cNvPr id="14" name="TextBox 13"/>
          <p:cNvSpPr txBox="1"/>
          <p:nvPr/>
        </p:nvSpPr>
        <p:spPr>
          <a:xfrm>
            <a:off x="1828800" y="3611880"/>
            <a:ext cx="2743200" cy="411480"/>
          </a:xfrm>
          <a:prstGeom prst="rect">
            <a:avLst/>
          </a:prstGeom>
          <a:noFill/>
        </p:spPr>
        <p:txBody>
          <a:bodyPr wrap="square">
            <a:spAutoFit/>
          </a:bodyPr>
          <a:lstStyle/>
          <a:p>
            <a:pPr algn="l">
              <a:defRPr sz="1600" b="1">
                <a:solidFill>
                  <a:srgbClr val="FFFFFF"/>
                </a:solidFill>
                <a:latin typeface="Courier New"/>
              </a:defRPr>
            </a:pPr>
            <a:r>
              <a:t>rental-workflow</a:t>
            </a:r>
          </a:p>
        </p:txBody>
      </p:sp>
      <p:sp>
        <p:nvSpPr>
          <p:cNvPr id="15" name="TextBox 14"/>
          <p:cNvSpPr txBox="1"/>
          <p:nvPr/>
        </p:nvSpPr>
        <p:spPr>
          <a:xfrm>
            <a:off x="5029200" y="3611880"/>
            <a:ext cx="3657600" cy="411480"/>
          </a:xfrm>
          <a:prstGeom prst="rect">
            <a:avLst/>
          </a:prstGeom>
          <a:noFill/>
        </p:spPr>
        <p:txBody>
          <a:bodyPr wrap="square">
            <a:spAutoFit/>
          </a:bodyPr>
          <a:lstStyle/>
          <a:p>
            <a:pPr algn="l">
              <a:defRPr sz="1400" b="0">
                <a:solidFill>
                  <a:srgbClr val="22C55E"/>
                </a:solidFill>
                <a:latin typeface="Calibri"/>
              </a:defRPr>
            </a:pPr>
            <a:r>
              <a:t>[SIMULATION] 3 milestone reports</a:t>
            </a:r>
          </a:p>
        </p:txBody>
      </p:sp>
      <p:sp>
        <p:nvSpPr>
          <p:cNvPr id="16" name="Rounded Rectangle 15"/>
          <p:cNvSpPr/>
          <p:nvPr/>
        </p:nvSpPr>
        <p:spPr>
          <a:xfrm>
            <a:off x="914400" y="4297680"/>
            <a:ext cx="10332720" cy="68580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88720" y="4434840"/>
            <a:ext cx="457200" cy="411480"/>
          </a:xfrm>
          <a:prstGeom prst="rect">
            <a:avLst/>
          </a:prstGeom>
          <a:noFill/>
        </p:spPr>
        <p:txBody>
          <a:bodyPr wrap="square">
            <a:spAutoFit/>
          </a:bodyPr>
          <a:lstStyle/>
          <a:p>
            <a:pPr algn="l">
              <a:defRPr sz="2000" b="0">
                <a:solidFill>
                  <a:srgbClr val="FFFFFF"/>
                </a:solidFill>
                <a:latin typeface="Calibri"/>
              </a:defRPr>
            </a:pPr>
            <a:r>
              <a:t>✅</a:t>
            </a:r>
          </a:p>
        </p:txBody>
      </p:sp>
      <p:sp>
        <p:nvSpPr>
          <p:cNvPr id="18" name="TextBox 17"/>
          <p:cNvSpPr txBox="1"/>
          <p:nvPr/>
        </p:nvSpPr>
        <p:spPr>
          <a:xfrm>
            <a:off x="1828800" y="4434840"/>
            <a:ext cx="2743200" cy="411480"/>
          </a:xfrm>
          <a:prstGeom prst="rect">
            <a:avLst/>
          </a:prstGeom>
          <a:noFill/>
        </p:spPr>
        <p:txBody>
          <a:bodyPr wrap="square">
            <a:spAutoFit/>
          </a:bodyPr>
          <a:lstStyle/>
          <a:p>
            <a:pPr algn="l">
              <a:defRPr sz="1600" b="1">
                <a:solidFill>
                  <a:srgbClr val="FFFFFF"/>
                </a:solidFill>
                <a:latin typeface="Courier New"/>
              </a:defRPr>
            </a:pPr>
            <a:r>
              <a:t>vehicle-workflow</a:t>
            </a:r>
          </a:p>
        </p:txBody>
      </p:sp>
      <p:sp>
        <p:nvSpPr>
          <p:cNvPr id="19" name="TextBox 18"/>
          <p:cNvSpPr txBox="1"/>
          <p:nvPr/>
        </p:nvSpPr>
        <p:spPr>
          <a:xfrm>
            <a:off x="5029200" y="4434840"/>
            <a:ext cx="3657600" cy="411480"/>
          </a:xfrm>
          <a:prstGeom prst="rect">
            <a:avLst/>
          </a:prstGeom>
          <a:noFill/>
        </p:spPr>
        <p:txBody>
          <a:bodyPr wrap="square">
            <a:spAutoFit/>
          </a:bodyPr>
          <a:lstStyle/>
          <a:p>
            <a:pPr algn="l">
              <a:defRPr sz="1400" b="0">
                <a:solidFill>
                  <a:srgbClr val="22C55E"/>
                </a:solidFill>
                <a:latin typeface="Calibri"/>
              </a:defRPr>
            </a:pPr>
            <a:r>
              <a:t>[SIMULATION] 3 telemetry reports</a:t>
            </a:r>
          </a:p>
        </p:txBody>
      </p:sp>
      <p:sp>
        <p:nvSpPr>
          <p:cNvPr id="20" name="Rounded Rectangle 19"/>
          <p:cNvSpPr/>
          <p:nvPr/>
        </p:nvSpPr>
        <p:spPr>
          <a:xfrm>
            <a:off x="914400" y="5120640"/>
            <a:ext cx="10332720" cy="685800"/>
          </a:xfrm>
          <a:prstGeom prst="roundRect">
            <a:avLst>
              <a:gd name="adj" fmla="val 2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88720" y="5257800"/>
            <a:ext cx="457200" cy="411480"/>
          </a:xfrm>
          <a:prstGeom prst="rect">
            <a:avLst/>
          </a:prstGeom>
          <a:noFill/>
        </p:spPr>
        <p:txBody>
          <a:bodyPr wrap="square">
            <a:spAutoFit/>
          </a:bodyPr>
          <a:lstStyle/>
          <a:p>
            <a:pPr algn="l">
              <a:defRPr sz="2000" b="0">
                <a:solidFill>
                  <a:srgbClr val="FFFFFF"/>
                </a:solidFill>
                <a:latin typeface="Calibri"/>
              </a:defRPr>
            </a:pPr>
            <a:r>
              <a:t>✅</a:t>
            </a:r>
          </a:p>
        </p:txBody>
      </p:sp>
      <p:sp>
        <p:nvSpPr>
          <p:cNvPr id="22" name="TextBox 21"/>
          <p:cNvSpPr txBox="1"/>
          <p:nvPr/>
        </p:nvSpPr>
        <p:spPr>
          <a:xfrm>
            <a:off x="1828800" y="5257800"/>
            <a:ext cx="2743200" cy="411480"/>
          </a:xfrm>
          <a:prstGeom prst="rect">
            <a:avLst/>
          </a:prstGeom>
          <a:noFill/>
        </p:spPr>
        <p:txBody>
          <a:bodyPr wrap="square">
            <a:spAutoFit/>
          </a:bodyPr>
          <a:lstStyle/>
          <a:p>
            <a:pPr algn="l">
              <a:defRPr sz="1600" b="1">
                <a:solidFill>
                  <a:srgbClr val="FFFFFF"/>
                </a:solidFill>
                <a:latin typeface="Courier New"/>
              </a:defRPr>
            </a:pPr>
            <a:r>
              <a:t>compliance-workflow</a:t>
            </a:r>
          </a:p>
        </p:txBody>
      </p:sp>
      <p:sp>
        <p:nvSpPr>
          <p:cNvPr id="23" name="TextBox 22"/>
          <p:cNvSpPr txBox="1"/>
          <p:nvPr/>
        </p:nvSpPr>
        <p:spPr>
          <a:xfrm>
            <a:off x="5029200" y="5257800"/>
            <a:ext cx="3657600" cy="411480"/>
          </a:xfrm>
          <a:prstGeom prst="rect">
            <a:avLst/>
          </a:prstGeom>
          <a:noFill/>
        </p:spPr>
        <p:txBody>
          <a:bodyPr wrap="square">
            <a:spAutoFit/>
          </a:bodyPr>
          <a:lstStyle/>
          <a:p>
            <a:pPr algn="l">
              <a:defRPr sz="1400" b="0">
                <a:solidFill>
                  <a:srgbClr val="22C55E"/>
                </a:solidFill>
                <a:latin typeface="Calibri"/>
              </a:defRPr>
            </a:pPr>
            <a:r>
              <a:t>[SIMULATION] 3 compliance reports</a:t>
            </a:r>
          </a:p>
        </p:txBody>
      </p:sp>
      <p:sp>
        <p:nvSpPr>
          <p:cNvPr id="24" name="TextBox 23"/>
          <p:cNvSpPr txBox="1"/>
          <p:nvPr/>
        </p:nvSpPr>
        <p:spPr>
          <a:xfrm>
            <a:off x="1371600" y="5760720"/>
            <a:ext cx="2011680" cy="640080"/>
          </a:xfrm>
          <a:prstGeom prst="rect">
            <a:avLst/>
          </a:prstGeom>
          <a:noFill/>
        </p:spPr>
        <p:txBody>
          <a:bodyPr wrap="square">
            <a:spAutoFit/>
          </a:bodyPr>
          <a:lstStyle/>
          <a:p>
            <a:pPr algn="ctr">
              <a:defRPr sz="3600" b="1">
                <a:solidFill>
                  <a:srgbClr val="375BD2"/>
                </a:solidFill>
                <a:latin typeface="Calibri"/>
              </a:defRPr>
            </a:pPr>
            <a:r>
              <a:t>5</a:t>
            </a:r>
          </a:p>
        </p:txBody>
      </p:sp>
      <p:sp>
        <p:nvSpPr>
          <p:cNvPr id="25" name="TextBox 24"/>
          <p:cNvSpPr txBox="1"/>
          <p:nvPr/>
        </p:nvSpPr>
        <p:spPr>
          <a:xfrm>
            <a:off x="1371600" y="6309360"/>
            <a:ext cx="2011680" cy="365760"/>
          </a:xfrm>
          <a:prstGeom prst="rect">
            <a:avLst/>
          </a:prstGeom>
          <a:noFill/>
        </p:spPr>
        <p:txBody>
          <a:bodyPr wrap="square">
            <a:spAutoFit/>
          </a:bodyPr>
          <a:lstStyle/>
          <a:p>
            <a:pPr algn="ctr">
              <a:defRPr sz="1300" b="0">
                <a:solidFill>
                  <a:srgbClr val="94A3B8"/>
                </a:solidFill>
                <a:latin typeface="Calibri"/>
              </a:defRPr>
            </a:pPr>
            <a:r>
              <a:t>CRE Workflows</a:t>
            </a:r>
          </a:p>
        </p:txBody>
      </p:sp>
      <p:sp>
        <p:nvSpPr>
          <p:cNvPr id="26" name="TextBox 25"/>
          <p:cNvSpPr txBox="1"/>
          <p:nvPr/>
        </p:nvSpPr>
        <p:spPr>
          <a:xfrm>
            <a:off x="3657600" y="5760720"/>
            <a:ext cx="2011680" cy="640080"/>
          </a:xfrm>
          <a:prstGeom prst="rect">
            <a:avLst/>
          </a:prstGeom>
          <a:noFill/>
        </p:spPr>
        <p:txBody>
          <a:bodyPr wrap="square">
            <a:spAutoFit/>
          </a:bodyPr>
          <a:lstStyle/>
          <a:p>
            <a:pPr algn="ctr">
              <a:defRPr sz="3600" b="1">
                <a:solidFill>
                  <a:srgbClr val="22C55E"/>
                </a:solidFill>
                <a:latin typeface="Calibri"/>
              </a:defRPr>
            </a:pPr>
            <a:r>
              <a:t>16</a:t>
            </a:r>
          </a:p>
        </p:txBody>
      </p:sp>
      <p:sp>
        <p:nvSpPr>
          <p:cNvPr id="27" name="TextBox 26"/>
          <p:cNvSpPr txBox="1"/>
          <p:nvPr/>
        </p:nvSpPr>
        <p:spPr>
          <a:xfrm>
            <a:off x="3657600" y="6309360"/>
            <a:ext cx="2011680" cy="365760"/>
          </a:xfrm>
          <a:prstGeom prst="rect">
            <a:avLst/>
          </a:prstGeom>
          <a:noFill/>
        </p:spPr>
        <p:txBody>
          <a:bodyPr wrap="square">
            <a:spAutoFit/>
          </a:bodyPr>
          <a:lstStyle/>
          <a:p>
            <a:pPr algn="ctr">
              <a:defRPr sz="1300" b="0">
                <a:solidFill>
                  <a:srgbClr val="94A3B8"/>
                </a:solidFill>
                <a:latin typeface="Calibri"/>
              </a:defRPr>
            </a:pPr>
            <a:r>
              <a:t>Reports Generated</a:t>
            </a:r>
          </a:p>
        </p:txBody>
      </p:sp>
      <p:sp>
        <p:nvSpPr>
          <p:cNvPr id="28" name="TextBox 27"/>
          <p:cNvSpPr txBox="1"/>
          <p:nvPr/>
        </p:nvSpPr>
        <p:spPr>
          <a:xfrm>
            <a:off x="5943600" y="5760720"/>
            <a:ext cx="2011680" cy="640080"/>
          </a:xfrm>
          <a:prstGeom prst="rect">
            <a:avLst/>
          </a:prstGeom>
          <a:noFill/>
        </p:spPr>
        <p:txBody>
          <a:bodyPr wrap="square">
            <a:spAutoFit/>
          </a:bodyPr>
          <a:lstStyle/>
          <a:p>
            <a:pPr algn="ctr">
              <a:defRPr sz="3600" b="1">
                <a:solidFill>
                  <a:srgbClr val="F97316"/>
                </a:solidFill>
                <a:latin typeface="Calibri"/>
              </a:defRPr>
            </a:pPr>
            <a:r>
              <a:t>5</a:t>
            </a:r>
          </a:p>
        </p:txBody>
      </p:sp>
      <p:sp>
        <p:nvSpPr>
          <p:cNvPr id="29" name="TextBox 28"/>
          <p:cNvSpPr txBox="1"/>
          <p:nvPr/>
        </p:nvSpPr>
        <p:spPr>
          <a:xfrm>
            <a:off x="5943600" y="6309360"/>
            <a:ext cx="2011680" cy="365760"/>
          </a:xfrm>
          <a:prstGeom prst="rect">
            <a:avLst/>
          </a:prstGeom>
          <a:noFill/>
        </p:spPr>
        <p:txBody>
          <a:bodyPr wrap="square">
            <a:spAutoFit/>
          </a:bodyPr>
          <a:lstStyle/>
          <a:p>
            <a:pPr algn="ctr">
              <a:defRPr sz="1300" b="0">
                <a:solidFill>
                  <a:srgbClr val="94A3B8"/>
                </a:solidFill>
                <a:latin typeface="Calibri"/>
              </a:defRPr>
            </a:pPr>
            <a:r>
              <a:t>Receiver Contracts</a:t>
            </a:r>
          </a:p>
        </p:txBody>
      </p:sp>
      <p:sp>
        <p:nvSpPr>
          <p:cNvPr id="30" name="TextBox 29"/>
          <p:cNvSpPr txBox="1"/>
          <p:nvPr/>
        </p:nvSpPr>
        <p:spPr>
          <a:xfrm>
            <a:off x="8229600" y="5760720"/>
            <a:ext cx="2011680" cy="640080"/>
          </a:xfrm>
          <a:prstGeom prst="rect">
            <a:avLst/>
          </a:prstGeom>
          <a:noFill/>
        </p:spPr>
        <p:txBody>
          <a:bodyPr wrap="square">
            <a:spAutoFit/>
          </a:bodyPr>
          <a:lstStyle/>
          <a:p>
            <a:pPr algn="ctr">
              <a:defRPr sz="3600" b="1">
                <a:solidFill>
                  <a:srgbClr val="9333EA"/>
                </a:solidFill>
                <a:latin typeface="Calibri"/>
              </a:defRPr>
            </a:pPr>
            <a:r>
              <a:t>34</a:t>
            </a:r>
          </a:p>
        </p:txBody>
      </p:sp>
      <p:sp>
        <p:nvSpPr>
          <p:cNvPr id="31" name="TextBox 30"/>
          <p:cNvSpPr txBox="1"/>
          <p:nvPr/>
        </p:nvSpPr>
        <p:spPr>
          <a:xfrm>
            <a:off x="8229600" y="6309360"/>
            <a:ext cx="2011680" cy="365760"/>
          </a:xfrm>
          <a:prstGeom prst="rect">
            <a:avLst/>
          </a:prstGeom>
          <a:noFill/>
        </p:spPr>
        <p:txBody>
          <a:bodyPr wrap="square">
            <a:spAutoFit/>
          </a:bodyPr>
          <a:lstStyle/>
          <a:p>
            <a:pPr algn="ctr">
              <a:defRPr sz="1300" b="0">
                <a:solidFill>
                  <a:srgbClr val="94A3B8"/>
                </a:solidFill>
                <a:latin typeface="Calibri"/>
              </a:defRPr>
            </a:pPr>
            <a:r>
              <a:t>Smart Contracts</a:t>
            </a:r>
          </a:p>
        </p:txBody>
      </p:sp>
      <p:sp>
        <p:nvSpPr>
          <p:cNvPr id="32" name="TextBox 31"/>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Tech Stack</a:t>
            </a:r>
          </a:p>
        </p:txBody>
      </p:sp>
      <p:sp>
        <p:nvSpPr>
          <p:cNvPr id="3" name="Rounded Rectangle 2"/>
          <p:cNvSpPr/>
          <p:nvPr/>
        </p:nvSpPr>
        <p:spPr>
          <a:xfrm>
            <a:off x="274320" y="1463040"/>
            <a:ext cx="2194560" cy="438912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74320" y="1463040"/>
            <a:ext cx="73152" cy="4389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00200"/>
            <a:ext cx="1828800" cy="365760"/>
          </a:xfrm>
          <a:prstGeom prst="rect">
            <a:avLst/>
          </a:prstGeom>
          <a:noFill/>
        </p:spPr>
        <p:txBody>
          <a:bodyPr wrap="square">
            <a:spAutoFit/>
          </a:bodyPr>
          <a:lstStyle/>
          <a:p>
            <a:pPr algn="l">
              <a:defRPr sz="1600" b="1">
                <a:solidFill>
                  <a:srgbClr val="FFFFFF"/>
                </a:solidFill>
                <a:latin typeface="Calibri"/>
              </a:defRPr>
            </a:pPr>
            <a:r>
              <a:t>Frontend</a:t>
            </a:r>
          </a:p>
        </p:txBody>
      </p:sp>
      <p:sp>
        <p:nvSpPr>
          <p:cNvPr id="6" name="TextBox 5"/>
          <p:cNvSpPr txBox="1"/>
          <p:nvPr/>
        </p:nvSpPr>
        <p:spPr>
          <a:xfrm>
            <a:off x="594360" y="2011680"/>
            <a:ext cx="1737360" cy="320040"/>
          </a:xfrm>
          <a:prstGeom prst="rect">
            <a:avLst/>
          </a:prstGeom>
          <a:noFill/>
        </p:spPr>
        <p:txBody>
          <a:bodyPr wrap="square">
            <a:spAutoFit/>
          </a:bodyPr>
          <a:lstStyle/>
          <a:p>
            <a:pPr algn="l">
              <a:defRPr sz="1200" b="0">
                <a:solidFill>
                  <a:srgbClr val="CBD5E1"/>
                </a:solidFill>
                <a:latin typeface="Calibri"/>
              </a:defRPr>
            </a:pPr>
            <a:r>
              <a:t>• Next.js 14 (App Router)</a:t>
            </a:r>
          </a:p>
        </p:txBody>
      </p:sp>
      <p:sp>
        <p:nvSpPr>
          <p:cNvPr id="7" name="TextBox 6"/>
          <p:cNvSpPr txBox="1"/>
          <p:nvPr/>
        </p:nvSpPr>
        <p:spPr>
          <a:xfrm>
            <a:off x="594360" y="2304288"/>
            <a:ext cx="1737360" cy="320040"/>
          </a:xfrm>
          <a:prstGeom prst="rect">
            <a:avLst/>
          </a:prstGeom>
          <a:noFill/>
        </p:spPr>
        <p:txBody>
          <a:bodyPr wrap="square">
            <a:spAutoFit/>
          </a:bodyPr>
          <a:lstStyle/>
          <a:p>
            <a:pPr algn="l">
              <a:defRPr sz="1200" b="0">
                <a:solidFill>
                  <a:srgbClr val="CBD5E1"/>
                </a:solidFill>
                <a:latin typeface="Calibri"/>
              </a:defRPr>
            </a:pPr>
            <a:r>
              <a:t>• TypeScript + TailwindCSS</a:t>
            </a:r>
          </a:p>
        </p:txBody>
      </p:sp>
      <p:sp>
        <p:nvSpPr>
          <p:cNvPr id="8" name="TextBox 7"/>
          <p:cNvSpPr txBox="1"/>
          <p:nvPr/>
        </p:nvSpPr>
        <p:spPr>
          <a:xfrm>
            <a:off x="594360" y="2596896"/>
            <a:ext cx="1737360" cy="320040"/>
          </a:xfrm>
          <a:prstGeom prst="rect">
            <a:avLst/>
          </a:prstGeom>
          <a:noFill/>
        </p:spPr>
        <p:txBody>
          <a:bodyPr wrap="square">
            <a:spAutoFit/>
          </a:bodyPr>
          <a:lstStyle/>
          <a:p>
            <a:pPr algn="l">
              <a:defRPr sz="1200" b="0">
                <a:solidFill>
                  <a:srgbClr val="CBD5E1"/>
                </a:solidFill>
                <a:latin typeface="Calibri"/>
              </a:defRPr>
            </a:pPr>
            <a:r>
              <a:t>• Wagmi v3 + Viem v2</a:t>
            </a:r>
          </a:p>
        </p:txBody>
      </p:sp>
      <p:sp>
        <p:nvSpPr>
          <p:cNvPr id="9" name="TextBox 8"/>
          <p:cNvSpPr txBox="1"/>
          <p:nvPr/>
        </p:nvSpPr>
        <p:spPr>
          <a:xfrm>
            <a:off x="594360" y="2889504"/>
            <a:ext cx="1737360" cy="320040"/>
          </a:xfrm>
          <a:prstGeom prst="rect">
            <a:avLst/>
          </a:prstGeom>
          <a:noFill/>
        </p:spPr>
        <p:txBody>
          <a:bodyPr wrap="square">
            <a:spAutoFit/>
          </a:bodyPr>
          <a:lstStyle/>
          <a:p>
            <a:pPr algn="l">
              <a:defRPr sz="1200" b="0">
                <a:solidFill>
                  <a:srgbClr val="CBD5E1"/>
                </a:solidFill>
                <a:latin typeface="Calibri"/>
              </a:defRPr>
            </a:pPr>
            <a:r>
              <a:t>• Thirdweb SDK v5</a:t>
            </a:r>
          </a:p>
        </p:txBody>
      </p:sp>
      <p:sp>
        <p:nvSpPr>
          <p:cNvPr id="10" name="TextBox 9"/>
          <p:cNvSpPr txBox="1"/>
          <p:nvPr/>
        </p:nvSpPr>
        <p:spPr>
          <a:xfrm>
            <a:off x="594360" y="3182112"/>
            <a:ext cx="1737360" cy="320040"/>
          </a:xfrm>
          <a:prstGeom prst="rect">
            <a:avLst/>
          </a:prstGeom>
          <a:noFill/>
        </p:spPr>
        <p:txBody>
          <a:bodyPr wrap="square">
            <a:spAutoFit/>
          </a:bodyPr>
          <a:lstStyle/>
          <a:p>
            <a:pPr algn="l">
              <a:defRPr sz="1200" b="0">
                <a:solidFill>
                  <a:srgbClr val="CBD5E1"/>
                </a:solidFill>
                <a:latin typeface="Calibri"/>
              </a:defRPr>
            </a:pPr>
            <a:r>
              <a:t>• Framer Motion</a:t>
            </a:r>
          </a:p>
        </p:txBody>
      </p:sp>
      <p:sp>
        <p:nvSpPr>
          <p:cNvPr id="11" name="Rounded Rectangle 10"/>
          <p:cNvSpPr/>
          <p:nvPr/>
        </p:nvSpPr>
        <p:spPr>
          <a:xfrm>
            <a:off x="2651760" y="1463040"/>
            <a:ext cx="2194560" cy="438912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651760" y="1463040"/>
            <a:ext cx="73152" cy="43891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26080" y="1600200"/>
            <a:ext cx="1828800" cy="365760"/>
          </a:xfrm>
          <a:prstGeom prst="rect">
            <a:avLst/>
          </a:prstGeom>
          <a:noFill/>
        </p:spPr>
        <p:txBody>
          <a:bodyPr wrap="square">
            <a:spAutoFit/>
          </a:bodyPr>
          <a:lstStyle/>
          <a:p>
            <a:pPr algn="l">
              <a:defRPr sz="1600" b="1">
                <a:solidFill>
                  <a:srgbClr val="FFFFFF"/>
                </a:solidFill>
                <a:latin typeface="Calibri"/>
              </a:defRPr>
            </a:pPr>
            <a:r>
              <a:t>Smart Contracts</a:t>
            </a:r>
          </a:p>
        </p:txBody>
      </p:sp>
      <p:sp>
        <p:nvSpPr>
          <p:cNvPr id="14" name="TextBox 13"/>
          <p:cNvSpPr txBox="1"/>
          <p:nvPr/>
        </p:nvSpPr>
        <p:spPr>
          <a:xfrm>
            <a:off x="2971800" y="2011680"/>
            <a:ext cx="1737360" cy="320040"/>
          </a:xfrm>
          <a:prstGeom prst="rect">
            <a:avLst/>
          </a:prstGeom>
          <a:noFill/>
        </p:spPr>
        <p:txBody>
          <a:bodyPr wrap="square">
            <a:spAutoFit/>
          </a:bodyPr>
          <a:lstStyle/>
          <a:p>
            <a:pPr algn="l">
              <a:defRPr sz="1200" b="0">
                <a:solidFill>
                  <a:srgbClr val="CBD5E1"/>
                </a:solidFill>
                <a:latin typeface="Calibri"/>
              </a:defRPr>
            </a:pPr>
            <a:r>
              <a:t>• Solidity 0.8.24</a:t>
            </a:r>
          </a:p>
        </p:txBody>
      </p:sp>
      <p:sp>
        <p:nvSpPr>
          <p:cNvPr id="15" name="TextBox 14"/>
          <p:cNvSpPr txBox="1"/>
          <p:nvPr/>
        </p:nvSpPr>
        <p:spPr>
          <a:xfrm>
            <a:off x="2971800" y="2304288"/>
            <a:ext cx="1737360" cy="320040"/>
          </a:xfrm>
          <a:prstGeom prst="rect">
            <a:avLst/>
          </a:prstGeom>
          <a:noFill/>
        </p:spPr>
        <p:txBody>
          <a:bodyPr wrap="square">
            <a:spAutoFit/>
          </a:bodyPr>
          <a:lstStyle/>
          <a:p>
            <a:pPr algn="l">
              <a:defRPr sz="1200" b="0">
                <a:solidFill>
                  <a:srgbClr val="CBD5E1"/>
                </a:solidFill>
                <a:latin typeface="Calibri"/>
              </a:defRPr>
            </a:pPr>
            <a:r>
              <a:t>• Foundry (Forge + Cast)</a:t>
            </a:r>
          </a:p>
        </p:txBody>
      </p:sp>
      <p:sp>
        <p:nvSpPr>
          <p:cNvPr id="16" name="TextBox 15"/>
          <p:cNvSpPr txBox="1"/>
          <p:nvPr/>
        </p:nvSpPr>
        <p:spPr>
          <a:xfrm>
            <a:off x="2971800" y="2596896"/>
            <a:ext cx="1737360" cy="320040"/>
          </a:xfrm>
          <a:prstGeom prst="rect">
            <a:avLst/>
          </a:prstGeom>
          <a:noFill/>
        </p:spPr>
        <p:txBody>
          <a:bodyPr wrap="square">
            <a:spAutoFit/>
          </a:bodyPr>
          <a:lstStyle/>
          <a:p>
            <a:pPr algn="l">
              <a:defRPr sz="1200" b="0">
                <a:solidFill>
                  <a:srgbClr val="CBD5E1"/>
                </a:solidFill>
                <a:latin typeface="Calibri"/>
              </a:defRPr>
            </a:pPr>
            <a:r>
              <a:t>• 34 contracts on Sepolia</a:t>
            </a:r>
          </a:p>
        </p:txBody>
      </p:sp>
      <p:sp>
        <p:nvSpPr>
          <p:cNvPr id="17" name="TextBox 16"/>
          <p:cNvSpPr txBox="1"/>
          <p:nvPr/>
        </p:nvSpPr>
        <p:spPr>
          <a:xfrm>
            <a:off x="2971800" y="2889504"/>
            <a:ext cx="1737360" cy="320040"/>
          </a:xfrm>
          <a:prstGeom prst="rect">
            <a:avLst/>
          </a:prstGeom>
          <a:noFill/>
        </p:spPr>
        <p:txBody>
          <a:bodyPr wrap="square">
            <a:spAutoFit/>
          </a:bodyPr>
          <a:lstStyle/>
          <a:p>
            <a:pPr algn="l">
              <a:defRPr sz="1200" b="0">
                <a:solidFill>
                  <a:srgbClr val="CBD5E1"/>
                </a:solidFill>
                <a:latin typeface="Calibri"/>
              </a:defRPr>
            </a:pPr>
            <a:r>
              <a:t>• ERC-721, ERC-3643</a:t>
            </a:r>
          </a:p>
        </p:txBody>
      </p:sp>
      <p:sp>
        <p:nvSpPr>
          <p:cNvPr id="18" name="TextBox 17"/>
          <p:cNvSpPr txBox="1"/>
          <p:nvPr/>
        </p:nvSpPr>
        <p:spPr>
          <a:xfrm>
            <a:off x="2971800" y="3182112"/>
            <a:ext cx="1737360" cy="320040"/>
          </a:xfrm>
          <a:prstGeom prst="rect">
            <a:avLst/>
          </a:prstGeom>
          <a:noFill/>
        </p:spPr>
        <p:txBody>
          <a:bodyPr wrap="square">
            <a:spAutoFit/>
          </a:bodyPr>
          <a:lstStyle/>
          <a:p>
            <a:pPr algn="l">
              <a:defRPr sz="1200" b="0">
                <a:solidFill>
                  <a:srgbClr val="CBD5E1"/>
                </a:solidFill>
                <a:latin typeface="Calibri"/>
              </a:defRPr>
            </a:pPr>
            <a:r>
              <a:t>• OpenZeppelin v5</a:t>
            </a:r>
          </a:p>
        </p:txBody>
      </p:sp>
      <p:sp>
        <p:nvSpPr>
          <p:cNvPr id="19" name="Rounded Rectangle 18"/>
          <p:cNvSpPr/>
          <p:nvPr/>
        </p:nvSpPr>
        <p:spPr>
          <a:xfrm>
            <a:off x="5029200" y="1463040"/>
            <a:ext cx="2194560" cy="438912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0" y="1463040"/>
            <a:ext cx="73152" cy="438912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0" y="1600200"/>
            <a:ext cx="1828800" cy="365760"/>
          </a:xfrm>
          <a:prstGeom prst="rect">
            <a:avLst/>
          </a:prstGeom>
          <a:noFill/>
        </p:spPr>
        <p:txBody>
          <a:bodyPr wrap="square">
            <a:spAutoFit/>
          </a:bodyPr>
          <a:lstStyle/>
          <a:p>
            <a:pPr algn="l">
              <a:defRPr sz="1600" b="1">
                <a:solidFill>
                  <a:srgbClr val="FFFFFF"/>
                </a:solidFill>
                <a:latin typeface="Calibri"/>
              </a:defRPr>
            </a:pPr>
            <a:r>
              <a:t>Backend</a:t>
            </a:r>
          </a:p>
        </p:txBody>
      </p:sp>
      <p:sp>
        <p:nvSpPr>
          <p:cNvPr id="22" name="TextBox 21"/>
          <p:cNvSpPr txBox="1"/>
          <p:nvPr/>
        </p:nvSpPr>
        <p:spPr>
          <a:xfrm>
            <a:off x="5349240" y="2011680"/>
            <a:ext cx="1737360" cy="320040"/>
          </a:xfrm>
          <a:prstGeom prst="rect">
            <a:avLst/>
          </a:prstGeom>
          <a:noFill/>
        </p:spPr>
        <p:txBody>
          <a:bodyPr wrap="square">
            <a:spAutoFit/>
          </a:bodyPr>
          <a:lstStyle/>
          <a:p>
            <a:pPr algn="l">
              <a:defRPr sz="1200" b="0">
                <a:solidFill>
                  <a:srgbClr val="CBD5E1"/>
                </a:solidFill>
                <a:latin typeface="Calibri"/>
              </a:defRPr>
            </a:pPr>
            <a:r>
              <a:t>• Node.js + Express</a:t>
            </a:r>
          </a:p>
        </p:txBody>
      </p:sp>
      <p:sp>
        <p:nvSpPr>
          <p:cNvPr id="23" name="TextBox 22"/>
          <p:cNvSpPr txBox="1"/>
          <p:nvPr/>
        </p:nvSpPr>
        <p:spPr>
          <a:xfrm>
            <a:off x="5349240" y="2304288"/>
            <a:ext cx="1737360" cy="320040"/>
          </a:xfrm>
          <a:prstGeom prst="rect">
            <a:avLst/>
          </a:prstGeom>
          <a:noFill/>
        </p:spPr>
        <p:txBody>
          <a:bodyPr wrap="square">
            <a:spAutoFit/>
          </a:bodyPr>
          <a:lstStyle/>
          <a:p>
            <a:pPr algn="l">
              <a:defRPr sz="1200" b="0">
                <a:solidFill>
                  <a:srgbClr val="CBD5E1"/>
                </a:solidFill>
                <a:latin typeface="Calibri"/>
              </a:defRPr>
            </a:pPr>
            <a:r>
              <a:t>• MongoDB + Mongoose</a:t>
            </a:r>
          </a:p>
        </p:txBody>
      </p:sp>
      <p:sp>
        <p:nvSpPr>
          <p:cNvPr id="24" name="TextBox 23"/>
          <p:cNvSpPr txBox="1"/>
          <p:nvPr/>
        </p:nvSpPr>
        <p:spPr>
          <a:xfrm>
            <a:off x="5349240" y="2596896"/>
            <a:ext cx="1737360" cy="320040"/>
          </a:xfrm>
          <a:prstGeom prst="rect">
            <a:avLst/>
          </a:prstGeom>
          <a:noFill/>
        </p:spPr>
        <p:txBody>
          <a:bodyPr wrap="square">
            <a:spAutoFit/>
          </a:bodyPr>
          <a:lstStyle/>
          <a:p>
            <a:pPr algn="l">
              <a:defRPr sz="1200" b="0">
                <a:solidFill>
                  <a:srgbClr val="CBD5E1"/>
                </a:solidFill>
                <a:latin typeface="Calibri"/>
              </a:defRPr>
            </a:pPr>
            <a:r>
              <a:t>• JWT Authentication</a:t>
            </a:r>
          </a:p>
        </p:txBody>
      </p:sp>
      <p:sp>
        <p:nvSpPr>
          <p:cNvPr id="25" name="TextBox 24"/>
          <p:cNvSpPr txBox="1"/>
          <p:nvPr/>
        </p:nvSpPr>
        <p:spPr>
          <a:xfrm>
            <a:off x="5349240" y="2889504"/>
            <a:ext cx="1737360" cy="320040"/>
          </a:xfrm>
          <a:prstGeom prst="rect">
            <a:avLst/>
          </a:prstGeom>
          <a:noFill/>
        </p:spPr>
        <p:txBody>
          <a:bodyPr wrap="square">
            <a:spAutoFit/>
          </a:bodyPr>
          <a:lstStyle/>
          <a:p>
            <a:pPr algn="l">
              <a:defRPr sz="1200" b="0">
                <a:solidFill>
                  <a:srgbClr val="CBD5E1"/>
                </a:solidFill>
                <a:latin typeface="Calibri"/>
              </a:defRPr>
            </a:pPr>
            <a:r>
              <a:t>• node-cron schedulers</a:t>
            </a:r>
          </a:p>
        </p:txBody>
      </p:sp>
      <p:sp>
        <p:nvSpPr>
          <p:cNvPr id="26" name="TextBox 25"/>
          <p:cNvSpPr txBox="1"/>
          <p:nvPr/>
        </p:nvSpPr>
        <p:spPr>
          <a:xfrm>
            <a:off x="5349240" y="3182112"/>
            <a:ext cx="1737360" cy="320040"/>
          </a:xfrm>
          <a:prstGeom prst="rect">
            <a:avLst/>
          </a:prstGeom>
          <a:noFill/>
        </p:spPr>
        <p:txBody>
          <a:bodyPr wrap="square">
            <a:spAutoFit/>
          </a:bodyPr>
          <a:lstStyle/>
          <a:p>
            <a:pPr algn="l">
              <a:defRPr sz="1200" b="0">
                <a:solidFill>
                  <a:srgbClr val="CBD5E1"/>
                </a:solidFill>
                <a:latin typeface="Calibri"/>
              </a:defRPr>
            </a:pPr>
            <a:r>
              <a:t>• ethers.js v6</a:t>
            </a:r>
          </a:p>
        </p:txBody>
      </p:sp>
      <p:sp>
        <p:nvSpPr>
          <p:cNvPr id="27" name="Rounded Rectangle 26"/>
          <p:cNvSpPr/>
          <p:nvPr/>
        </p:nvSpPr>
        <p:spPr>
          <a:xfrm>
            <a:off x="7406640" y="1463040"/>
            <a:ext cx="2194560" cy="438912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406640" y="1463040"/>
            <a:ext cx="73152" cy="4389120"/>
          </a:xfrm>
          <a:prstGeom prst="rect">
            <a:avLst/>
          </a:prstGeom>
          <a:solidFill>
            <a:srgbClr val="375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80960" y="1600200"/>
            <a:ext cx="1828800" cy="365760"/>
          </a:xfrm>
          <a:prstGeom prst="rect">
            <a:avLst/>
          </a:prstGeom>
          <a:noFill/>
        </p:spPr>
        <p:txBody>
          <a:bodyPr wrap="square">
            <a:spAutoFit/>
          </a:bodyPr>
          <a:lstStyle/>
          <a:p>
            <a:pPr algn="l">
              <a:defRPr sz="1600" b="1">
                <a:solidFill>
                  <a:srgbClr val="FFFFFF"/>
                </a:solidFill>
                <a:latin typeface="Calibri"/>
              </a:defRPr>
            </a:pPr>
            <a:r>
              <a:t>Chainlink CRE</a:t>
            </a:r>
          </a:p>
        </p:txBody>
      </p:sp>
      <p:sp>
        <p:nvSpPr>
          <p:cNvPr id="30" name="TextBox 29"/>
          <p:cNvSpPr txBox="1"/>
          <p:nvPr/>
        </p:nvSpPr>
        <p:spPr>
          <a:xfrm>
            <a:off x="7726680" y="2011680"/>
            <a:ext cx="1737360" cy="320040"/>
          </a:xfrm>
          <a:prstGeom prst="rect">
            <a:avLst/>
          </a:prstGeom>
          <a:noFill/>
        </p:spPr>
        <p:txBody>
          <a:bodyPr wrap="square">
            <a:spAutoFit/>
          </a:bodyPr>
          <a:lstStyle/>
          <a:p>
            <a:pPr algn="l">
              <a:defRPr sz="1200" b="0">
                <a:solidFill>
                  <a:srgbClr val="CBD5E1"/>
                </a:solidFill>
                <a:latin typeface="Calibri"/>
              </a:defRPr>
            </a:pPr>
            <a:r>
              <a:t>• TypeScript workflows</a:t>
            </a:r>
          </a:p>
        </p:txBody>
      </p:sp>
      <p:sp>
        <p:nvSpPr>
          <p:cNvPr id="31" name="TextBox 30"/>
          <p:cNvSpPr txBox="1"/>
          <p:nvPr/>
        </p:nvSpPr>
        <p:spPr>
          <a:xfrm>
            <a:off x="7726680" y="2304288"/>
            <a:ext cx="1737360" cy="320040"/>
          </a:xfrm>
          <a:prstGeom prst="rect">
            <a:avLst/>
          </a:prstGeom>
          <a:noFill/>
        </p:spPr>
        <p:txBody>
          <a:bodyPr wrap="square">
            <a:spAutoFit/>
          </a:bodyPr>
          <a:lstStyle/>
          <a:p>
            <a:pPr algn="l">
              <a:defRPr sz="1200" b="0">
                <a:solidFill>
                  <a:srgbClr val="CBD5E1"/>
                </a:solidFill>
                <a:latin typeface="Calibri"/>
              </a:defRPr>
            </a:pPr>
            <a:r>
              <a:t>• CRE SDK + Bun compiler</a:t>
            </a:r>
          </a:p>
        </p:txBody>
      </p:sp>
      <p:sp>
        <p:nvSpPr>
          <p:cNvPr id="32" name="TextBox 31"/>
          <p:cNvSpPr txBox="1"/>
          <p:nvPr/>
        </p:nvSpPr>
        <p:spPr>
          <a:xfrm>
            <a:off x="7726680" y="2596896"/>
            <a:ext cx="1737360" cy="320040"/>
          </a:xfrm>
          <a:prstGeom prst="rect">
            <a:avLst/>
          </a:prstGeom>
          <a:noFill/>
        </p:spPr>
        <p:txBody>
          <a:bodyPr wrap="square">
            <a:spAutoFit/>
          </a:bodyPr>
          <a:lstStyle/>
          <a:p>
            <a:pPr algn="l">
              <a:defRPr sz="1200" b="0">
                <a:solidFill>
                  <a:srgbClr val="CBD5E1"/>
                </a:solidFill>
                <a:latin typeface="Calibri"/>
              </a:defRPr>
            </a:pPr>
            <a:r>
              <a:t>• WASM compilation target</a:t>
            </a:r>
          </a:p>
        </p:txBody>
      </p:sp>
      <p:sp>
        <p:nvSpPr>
          <p:cNvPr id="33" name="TextBox 32"/>
          <p:cNvSpPr txBox="1"/>
          <p:nvPr/>
        </p:nvSpPr>
        <p:spPr>
          <a:xfrm>
            <a:off x="7726680" y="2889504"/>
            <a:ext cx="1737360" cy="320040"/>
          </a:xfrm>
          <a:prstGeom prst="rect">
            <a:avLst/>
          </a:prstGeom>
          <a:noFill/>
        </p:spPr>
        <p:txBody>
          <a:bodyPr wrap="square">
            <a:spAutoFit/>
          </a:bodyPr>
          <a:lstStyle/>
          <a:p>
            <a:pPr algn="l">
              <a:defRPr sz="1200" b="0">
                <a:solidFill>
                  <a:srgbClr val="CBD5E1"/>
                </a:solidFill>
                <a:latin typeface="Calibri"/>
              </a:defRPr>
            </a:pPr>
            <a:r>
              <a:t>• DON consensus aggregation</a:t>
            </a:r>
          </a:p>
        </p:txBody>
      </p:sp>
      <p:sp>
        <p:nvSpPr>
          <p:cNvPr id="34" name="TextBox 33"/>
          <p:cNvSpPr txBox="1"/>
          <p:nvPr/>
        </p:nvSpPr>
        <p:spPr>
          <a:xfrm>
            <a:off x="7726680" y="3182112"/>
            <a:ext cx="1737360" cy="320040"/>
          </a:xfrm>
          <a:prstGeom prst="rect">
            <a:avLst/>
          </a:prstGeom>
          <a:noFill/>
        </p:spPr>
        <p:txBody>
          <a:bodyPr wrap="square">
            <a:spAutoFit/>
          </a:bodyPr>
          <a:lstStyle/>
          <a:p>
            <a:pPr algn="l">
              <a:defRPr sz="1200" b="0">
                <a:solidFill>
                  <a:srgbClr val="CBD5E1"/>
                </a:solidFill>
                <a:latin typeface="Calibri"/>
              </a:defRPr>
            </a:pPr>
            <a:r>
              <a:t>• 5 Receiver contracts</a:t>
            </a:r>
          </a:p>
        </p:txBody>
      </p:sp>
      <p:sp>
        <p:nvSpPr>
          <p:cNvPr id="35" name="Rounded Rectangle 34"/>
          <p:cNvSpPr/>
          <p:nvPr/>
        </p:nvSpPr>
        <p:spPr>
          <a:xfrm>
            <a:off x="9784080" y="1463040"/>
            <a:ext cx="2194560" cy="4389120"/>
          </a:xfrm>
          <a:prstGeom prst="roundRect">
            <a:avLst>
              <a:gd name="adj" fmla="val 5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784080" y="1463040"/>
            <a:ext cx="73152" cy="438912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058400" y="1600200"/>
            <a:ext cx="1828800" cy="365760"/>
          </a:xfrm>
          <a:prstGeom prst="rect">
            <a:avLst/>
          </a:prstGeom>
          <a:noFill/>
        </p:spPr>
        <p:txBody>
          <a:bodyPr wrap="square">
            <a:spAutoFit/>
          </a:bodyPr>
          <a:lstStyle/>
          <a:p>
            <a:pPr algn="l">
              <a:defRPr sz="1600" b="1">
                <a:solidFill>
                  <a:srgbClr val="FFFFFF"/>
                </a:solidFill>
                <a:latin typeface="Calibri"/>
              </a:defRPr>
            </a:pPr>
            <a:r>
              <a:t>Identity</a:t>
            </a:r>
          </a:p>
        </p:txBody>
      </p:sp>
      <p:sp>
        <p:nvSpPr>
          <p:cNvPr id="38" name="TextBox 37"/>
          <p:cNvSpPr txBox="1"/>
          <p:nvPr/>
        </p:nvSpPr>
        <p:spPr>
          <a:xfrm>
            <a:off x="10104120" y="2011680"/>
            <a:ext cx="1737360" cy="320040"/>
          </a:xfrm>
          <a:prstGeom prst="rect">
            <a:avLst/>
          </a:prstGeom>
          <a:noFill/>
        </p:spPr>
        <p:txBody>
          <a:bodyPr wrap="square">
            <a:spAutoFit/>
          </a:bodyPr>
          <a:lstStyle/>
          <a:p>
            <a:pPr algn="l">
              <a:defRPr sz="1200" b="0">
                <a:solidFill>
                  <a:srgbClr val="CBD5E1"/>
                </a:solidFill>
                <a:latin typeface="Calibri"/>
              </a:defRPr>
            </a:pPr>
            <a:r>
              <a:t>• WorldID MiniKit v1.9</a:t>
            </a:r>
          </a:p>
        </p:txBody>
      </p:sp>
      <p:sp>
        <p:nvSpPr>
          <p:cNvPr id="39" name="TextBox 38"/>
          <p:cNvSpPr txBox="1"/>
          <p:nvPr/>
        </p:nvSpPr>
        <p:spPr>
          <a:xfrm>
            <a:off x="10104120" y="2304288"/>
            <a:ext cx="1737360" cy="320040"/>
          </a:xfrm>
          <a:prstGeom prst="rect">
            <a:avLst/>
          </a:prstGeom>
          <a:noFill/>
        </p:spPr>
        <p:txBody>
          <a:bodyPr wrap="square">
            <a:spAutoFit/>
          </a:bodyPr>
          <a:lstStyle/>
          <a:p>
            <a:pPr algn="l">
              <a:defRPr sz="1200" b="0">
                <a:solidFill>
                  <a:srgbClr val="CBD5E1"/>
                </a:solidFill>
                <a:latin typeface="Calibri"/>
              </a:defRPr>
            </a:pPr>
            <a:r>
              <a:t>• Orb-level ZK proofs</a:t>
            </a:r>
          </a:p>
        </p:txBody>
      </p:sp>
      <p:sp>
        <p:nvSpPr>
          <p:cNvPr id="40" name="TextBox 39"/>
          <p:cNvSpPr txBox="1"/>
          <p:nvPr/>
        </p:nvSpPr>
        <p:spPr>
          <a:xfrm>
            <a:off x="10104120" y="2596896"/>
            <a:ext cx="1737360" cy="320040"/>
          </a:xfrm>
          <a:prstGeom prst="rect">
            <a:avLst/>
          </a:prstGeom>
          <a:noFill/>
        </p:spPr>
        <p:txBody>
          <a:bodyPr wrap="square">
            <a:spAutoFit/>
          </a:bodyPr>
          <a:lstStyle/>
          <a:p>
            <a:pPr algn="l">
              <a:defRPr sz="1200" b="0">
                <a:solidFill>
                  <a:srgbClr val="CBD5E1"/>
                </a:solidFill>
                <a:latin typeface="Calibri"/>
              </a:defRPr>
            </a:pPr>
            <a:r>
              <a:t>• OnchainID (T-REX)</a:t>
            </a:r>
          </a:p>
        </p:txBody>
      </p:sp>
      <p:sp>
        <p:nvSpPr>
          <p:cNvPr id="41" name="TextBox 40"/>
          <p:cNvSpPr txBox="1"/>
          <p:nvPr/>
        </p:nvSpPr>
        <p:spPr>
          <a:xfrm>
            <a:off x="10104120" y="2889504"/>
            <a:ext cx="1737360" cy="320040"/>
          </a:xfrm>
          <a:prstGeom prst="rect">
            <a:avLst/>
          </a:prstGeom>
          <a:noFill/>
        </p:spPr>
        <p:txBody>
          <a:bodyPr wrap="square">
            <a:spAutoFit/>
          </a:bodyPr>
          <a:lstStyle/>
          <a:p>
            <a:pPr algn="l">
              <a:defRPr sz="1200" b="0">
                <a:solidFill>
                  <a:srgbClr val="CBD5E1"/>
                </a:solidFill>
                <a:latin typeface="Calibri"/>
              </a:defRPr>
            </a:pPr>
            <a:r>
              <a:t>• ERC-3643 IdentityRegistry</a:t>
            </a:r>
          </a:p>
        </p:txBody>
      </p:sp>
      <p:sp>
        <p:nvSpPr>
          <p:cNvPr id="42" name="TextBox 41"/>
          <p:cNvSpPr txBox="1"/>
          <p:nvPr/>
        </p:nvSpPr>
        <p:spPr>
          <a:xfrm>
            <a:off x="10104120" y="3182112"/>
            <a:ext cx="1737360" cy="320040"/>
          </a:xfrm>
          <a:prstGeom prst="rect">
            <a:avLst/>
          </a:prstGeom>
          <a:noFill/>
        </p:spPr>
        <p:txBody>
          <a:bodyPr wrap="square">
            <a:spAutoFit/>
          </a:bodyPr>
          <a:lstStyle/>
          <a:p>
            <a:pPr algn="l">
              <a:defRPr sz="1200" b="0">
                <a:solidFill>
                  <a:srgbClr val="CBD5E1"/>
                </a:solidFill>
                <a:latin typeface="Calibri"/>
              </a:defRPr>
            </a:pPr>
            <a:r>
              <a:t>• KYC document system</a:t>
            </a:r>
          </a:p>
        </p:txBody>
      </p:sp>
      <p:sp>
        <p:nvSpPr>
          <p:cNvPr id="43" name="TextBox 42"/>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058400" cy="1097280"/>
          </a:xfrm>
          <a:prstGeom prst="rect">
            <a:avLst/>
          </a:prstGeom>
          <a:noFill/>
        </p:spPr>
        <p:txBody>
          <a:bodyPr wrap="square">
            <a:spAutoFit/>
          </a:bodyPr>
          <a:lstStyle/>
          <a:p>
            <a:pPr algn="ctr">
              <a:defRPr sz="5400" b="1">
                <a:solidFill>
                  <a:srgbClr val="FFFFFF"/>
                </a:solidFill>
                <a:latin typeface="Calibri"/>
              </a:defRPr>
            </a:pPr>
            <a:r>
              <a:t>Thank You</a:t>
            </a:r>
          </a:p>
        </p:txBody>
      </p:sp>
      <p:sp>
        <p:nvSpPr>
          <p:cNvPr id="4" name="TextBox 3"/>
          <p:cNvSpPr txBox="1"/>
          <p:nvPr/>
        </p:nvSpPr>
        <p:spPr>
          <a:xfrm>
            <a:off x="1828800" y="2560320"/>
            <a:ext cx="8229600" cy="640080"/>
          </a:xfrm>
          <a:prstGeom prst="rect">
            <a:avLst/>
          </a:prstGeom>
          <a:noFill/>
        </p:spPr>
        <p:txBody>
          <a:bodyPr wrap="square">
            <a:spAutoFit/>
          </a:bodyPr>
          <a:lstStyle/>
          <a:p>
            <a:pPr algn="ctr">
              <a:defRPr sz="2200" b="0">
                <a:solidFill>
                  <a:srgbClr val="CBD5E1"/>
                </a:solidFill>
                <a:latin typeface="Calibri"/>
              </a:defRPr>
            </a:pPr>
            <a:r>
              <a:t>RegShield — Tokenized Vehicle Rental Platform</a:t>
            </a:r>
          </a:p>
        </p:txBody>
      </p:sp>
      <p:sp>
        <p:nvSpPr>
          <p:cNvPr id="5" name="TextBox 4"/>
          <p:cNvSpPr txBox="1"/>
          <p:nvPr/>
        </p:nvSpPr>
        <p:spPr>
          <a:xfrm>
            <a:off x="2743200" y="3474720"/>
            <a:ext cx="6400800" cy="2286000"/>
          </a:xfrm>
          <a:prstGeom prst="rect">
            <a:avLst/>
          </a:prstGeom>
          <a:noFill/>
        </p:spPr>
        <p:txBody>
          <a:bodyPr wrap="square">
            <a:spAutoFit/>
          </a:bodyPr>
          <a:lstStyle/>
          <a:p>
            <a:pPr>
              <a:spcBef>
                <a:spcPts val="400"/>
              </a:spcBef>
              <a:spcAft>
                <a:spcPts val="800"/>
              </a:spcAft>
            </a:pPr>
            <a:r>
              <a:rPr sz="1600">
                <a:solidFill>
                  <a:srgbClr val="3B82F6"/>
                </a:solidFill>
                <a:latin typeface="Calibri"/>
              </a:rPr>
              <a:t>▸ </a:t>
            </a:r>
            <a:r>
              <a:rPr sz="1600">
                <a:solidFill>
                  <a:srgbClr val="CBD5E1"/>
                </a:solidFill>
                <a:latin typeface="Calibri"/>
              </a:rPr>
              <a:t>Chainlink CRE replaces 4 backend services + adds 1 new capability</a:t>
            </a:r>
          </a:p>
          <a:p>
            <a:pPr>
              <a:spcBef>
                <a:spcPts val="400"/>
              </a:spcBef>
              <a:spcAft>
                <a:spcPts val="800"/>
              </a:spcAft>
            </a:pPr>
            <a:r>
              <a:rPr sz="1600">
                <a:solidFill>
                  <a:srgbClr val="3B82F6"/>
                </a:solidFill>
                <a:latin typeface="Calibri"/>
              </a:rPr>
              <a:t>▸ </a:t>
            </a:r>
            <a:r>
              <a:rPr sz="1600">
                <a:solidFill>
                  <a:srgbClr val="CBD5E1"/>
                </a:solidFill>
                <a:latin typeface="Calibri"/>
              </a:rPr>
              <a:t>WorldID provides sybil-resistant proof-of-personhood for investors</a:t>
            </a:r>
          </a:p>
          <a:p>
            <a:pPr>
              <a:spcBef>
                <a:spcPts val="400"/>
              </a:spcBef>
              <a:spcAft>
                <a:spcPts val="800"/>
              </a:spcAft>
            </a:pPr>
            <a:r>
              <a:rPr sz="1600">
                <a:solidFill>
                  <a:srgbClr val="3B82F6"/>
                </a:solidFill>
                <a:latin typeface="Calibri"/>
              </a:rPr>
              <a:t>▸ </a:t>
            </a:r>
            <a:r>
              <a:rPr sz="1600">
                <a:solidFill>
                  <a:srgbClr val="CBD5E1"/>
                </a:solidFill>
                <a:latin typeface="Calibri"/>
              </a:rPr>
              <a:t>ERC-3643 security tokens enforce on-chain regulatory compliance</a:t>
            </a:r>
          </a:p>
          <a:p>
            <a:pPr>
              <a:spcBef>
                <a:spcPts val="400"/>
              </a:spcBef>
              <a:spcAft>
                <a:spcPts val="800"/>
              </a:spcAft>
            </a:pPr>
            <a:r>
              <a:rPr sz="1600">
                <a:solidFill>
                  <a:srgbClr val="3B82F6"/>
                </a:solidFill>
                <a:latin typeface="Calibri"/>
              </a:rPr>
              <a:t>▸ </a:t>
            </a:r>
            <a:r>
              <a:rPr sz="1600">
                <a:solidFill>
                  <a:srgbClr val="CBD5E1"/>
                </a:solidFill>
                <a:latin typeface="Calibri"/>
              </a:rPr>
              <a:t>34 smart contracts deployed on Sepolia testnet</a:t>
            </a:r>
          </a:p>
          <a:p>
            <a:pPr>
              <a:spcBef>
                <a:spcPts val="400"/>
              </a:spcBef>
              <a:spcAft>
                <a:spcPts val="800"/>
              </a:spcAft>
            </a:pPr>
            <a:r>
              <a:rPr sz="1600">
                <a:solidFill>
                  <a:srgbClr val="3B82F6"/>
                </a:solidFill>
                <a:latin typeface="Calibri"/>
              </a:rPr>
              <a:t>▸ </a:t>
            </a:r>
            <a:r>
              <a:rPr sz="1600">
                <a:solidFill>
                  <a:srgbClr val="CBD5E1"/>
                </a:solidFill>
                <a:latin typeface="Calibri"/>
              </a:rPr>
              <a:t>5 CRE workflows — all passing simulation, ready for DON deployment</a:t>
            </a:r>
          </a:p>
        </p:txBody>
      </p:sp>
      <p:sp>
        <p:nvSpPr>
          <p:cNvPr id="6" name="Rounded Rectangle 5"/>
          <p:cNvSpPr/>
          <p:nvPr/>
        </p:nvSpPr>
        <p:spPr>
          <a:xfrm>
            <a:off x="2286000" y="5760720"/>
            <a:ext cx="2468880" cy="457200"/>
          </a:xfrm>
          <a:prstGeom prst="roundRect">
            <a:avLst>
              <a:gd name="adj" fmla="val 15000"/>
            </a:avLst>
          </a:prstGeom>
          <a:solidFill>
            <a:srgbClr val="375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300"/>
              </a:spcBef>
              <a:defRPr sz="1200" b="1">
                <a:solidFill>
                  <a:srgbClr val="FFFFFF"/>
                </a:solidFill>
                <a:latin typeface="Calibri"/>
              </a:defRPr>
            </a:pPr>
            <a:r>
              <a:t>Powered by Chainlink CRE</a:t>
            </a:r>
          </a:p>
        </p:txBody>
      </p:sp>
      <p:sp>
        <p:nvSpPr>
          <p:cNvPr id="7" name="Rounded Rectangle 6"/>
          <p:cNvSpPr/>
          <p:nvPr/>
        </p:nvSpPr>
        <p:spPr>
          <a:xfrm>
            <a:off x="5029200" y="5760720"/>
            <a:ext cx="2468880" cy="457200"/>
          </a:xfrm>
          <a:prstGeom prst="roundRect">
            <a:avLst>
              <a:gd name="adj" fmla="val 15000"/>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300"/>
              </a:spcBef>
              <a:defRPr sz="1200" b="1">
                <a:solidFill>
                  <a:srgbClr val="FFFFFF"/>
                </a:solidFill>
                <a:latin typeface="Calibri"/>
              </a:defRPr>
            </a:pPr>
            <a:r>
              <a:t>Secured by WorldID</a:t>
            </a:r>
          </a:p>
        </p:txBody>
      </p:sp>
      <p:sp>
        <p:nvSpPr>
          <p:cNvPr id="8" name="Rounded Rectangle 7"/>
          <p:cNvSpPr/>
          <p:nvPr/>
        </p:nvSpPr>
        <p:spPr>
          <a:xfrm>
            <a:off x="7772400" y="5760720"/>
            <a:ext cx="2468880" cy="457200"/>
          </a:xfrm>
          <a:prstGeom prst="roundRect">
            <a:avLst>
              <a:gd name="adj" fmla="val 15000"/>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300"/>
              </a:spcBef>
              <a:defRPr sz="1200" b="1">
                <a:solidFill>
                  <a:srgbClr val="FFFFFF"/>
                </a:solidFill>
                <a:latin typeface="Calibri"/>
              </a:defRPr>
            </a:pPr>
            <a:r>
              <a:t>Compliant via ERC-3643</a:t>
            </a:r>
          </a:p>
        </p:txBody>
      </p:sp>
      <p:sp>
        <p:nvSpPr>
          <p:cNvPr id="9" name="TextBox 8"/>
          <p:cNvSpPr txBox="1"/>
          <p:nvPr/>
        </p:nvSpPr>
        <p:spPr>
          <a:xfrm>
            <a:off x="11430000" y="6400800"/>
            <a:ext cx="640080" cy="274320"/>
          </a:xfrm>
          <a:prstGeom prst="rect">
            <a:avLst/>
          </a:prstGeom>
          <a:noFill/>
        </p:spPr>
        <p:txBody>
          <a:bodyPr wrap="square">
            <a:spAutoFit/>
          </a:bodyPr>
          <a:lstStyle/>
          <a:p>
            <a:pPr algn="r">
              <a:defRPr sz="1000" b="0">
                <a:solidFill>
                  <a:srgbClr val="94A3B8"/>
                </a:solidFill>
                <a:latin typeface="Calibri"/>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3090</Words>
  <Application>Microsoft Macintosh PowerPoint</Application>
  <PresentationFormat>Widescreen</PresentationFormat>
  <Paragraphs>386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cspadmin</cp:lastModifiedBy>
  <cp:revision>2</cp:revision>
  <dcterms:created xsi:type="dcterms:W3CDTF">2013-01-27T09:14:16Z</dcterms:created>
  <dcterms:modified xsi:type="dcterms:W3CDTF">2026-03-04T20:22:40Z</dcterms:modified>
  <cp:category/>
</cp:coreProperties>
</file>